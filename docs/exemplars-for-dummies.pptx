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0efb7f42-2208-566f-fc60-2086689b0f17}">
          <p14:sldIdLst>
            <p14:sldId id="256"/>
            <p14:sldId id="257"/>
            <p14:sldId id="258"/>
            <p14:sldId id="259"/>
            <p14:sldId id="260"/>
          </p14:sldIdLst>
        </p14:section>
        <p14:section name="What you see" id="{aa27221e-8887-5173-b888-a4b40e8210a1}">
          <p14:sldIdLst>
            <p14:sldId id="261"/>
          </p14:sldIdLst>
        </p14:section>
        <p14:section name="How it works" id="{a09f16ef-d0bf-34b6-538f-fced23bcc6fd}">
          <p14:sldIdLst>
            <p14:sldId id="262"/>
            <p14:sldId id="263"/>
            <p14:sldId id="264"/>
          </p14:sldIdLst>
        </p14:section>
        <p14:section name="Set it up" id="{250d0fe8-2957-b6b2-be2f-29aaaf61e4fa}">
          <p14:sldIdLst>
            <p14:sldId id="265"/>
            <p14:sldId id="266"/>
            <p14:sldId id="267"/>
          </p14:sldIdLst>
        </p14:section>
        <p14:section name="Be honest" id="{5ae75eb2-ad00-38be-76c0-ccb8610af58d}">
          <p14:sldIdLst>
            <p14:sldId id="268"/>
          </p14:sldIdLst>
        </p14:section>
        <p14:section name="Next" id="{5bb2c1ac-bbd8-53ad-115e-a5b09f228e5f}">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a dot on a graph that leads to the exact request behind a slowdown. Audience: managers and product designers. Every claim in this deck traces to a source listed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aggregate. They tell you when and how bad, not which request. The quote is from the Grafana docs page 'Introduction to exemplars'. The graph is illustrative, not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words: a metric is a number over time. A trace is the journey of one request. An exemplar is a pointer, a trace ID stuck to one measurement. Wording of the three cards follows the Grafana docs sentence: metrics give an aggregated view of your system, traces give a fine grained view of a single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story. Names and numbers are made up and no numbers are given. The 'without exemplars' lane follows the docs, which say you must compare a trace for a fast response against a trace for a slow response. The 'with exemplars' lane uses the click path from the Grafana docs: hover to see the trace ID, click Query with Tempo. Do not claim a root cause here, the story stops at 'read which step took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plain: these are statements of design intent from the vendor, not measurements. We searched Grafana docs and blogs, the Chronosphere SREcon22 abstract and the Houzz case study and found no published time saved or MTTR figure for exemplars. Say 'we found none', not 'none exists'. The Houzz case study reports lower MTTR for a Loki plus Tempo stack but never mentions exemplars, so it is not evidence here. Quotes are edited only to replace long dashes with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designers. The marker in current Grafana source (ExemplarMarker.tsx) is a diamond. The docs page still says 'highlighted star' and a 2021 blog says 'dot', both stale. The trace ID shown, AAA5S4ois0o, is the example ID from the Grafana Cloud launch post. The Exemplars switch is not available with instant query types. The graph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trace ID. The app records it next to a metric measurement. Prometheus scrapes it in OpenMetrics format and keeps it in memory. Optionally it is sent on with remote write to Mimir or Grafana Cloud. Grafana draws the diamond and links to the tracing data source. Tempo stores the trace. The Tempo definition is quoted from the Tempo docs home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curious. This is the OpenMetrics text format, using the example line from the Grafana Cloud launch post. Exemplars in OpenMetrics 1.0: labels and a value are required, the timestamp is optional, the labels are capped at 128 characters combined, and the spec lets counter totals and histogram buckets carry them. The 2.0 draft changes some of these rules, so keep the 'OpenMetrics 1.0'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Exemplars are a sample. Go and Python Prometheus clients do not look up the active trace, your code passes the trace ID; a new exemplar replaces the old one in the same slot (one per bucket on a classic histogram). The Java client picks the trace automatically when the current span is sampled, is rate limited, keeps an exemplar at least 7 seconds by default and evicts after 70 seconds. The OpenTelemetry SDKs default to a trace based filter. Do not say the exemplar is the slowest request, no source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switches before anything is stored. The app must expose OpenMetrics, since Grafana Cloud docs say exemplars are not supported in the Prometheus text format. Prometheus keeps exemplar storage behind a feature flag, off by default, and the docs still call it experimental as of v3.15.0. max_exemplars defaults to 100000.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switches. send_exemplars is a field of the remote write endpoint, default false in Prometheus and true in Alloy. In Mimir the per tenant limit max_global_exemplars_per_user defaults to 0, which means exemplar ingestion is off, and Mimir suggests starting near 100,000 for chosen tenants. In Grafana, set the exemplar link on the Prometheus data source: Internal link, pick Tempo, and make Label name match what the app emits (default traceID). Grafana Cloud says the tenant must have exemplars enabled, and the enabling procedure is not documented in what we reviewed. Tempo metrics-generator doc examples set send_exemplars: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buffer is one fixed size circular buffer in memory for all series, sized by count not time. About 100 bytes is for a minimal exemplar with only a trace ID. Exemplars keep trace IDs out of labels, so they do not add time series (Dash0 guide). Exemplars are also appended to the WAL for the WAL duration. No source documents a retention period, so do not promise days or months. The 128 limit is OpenMetrics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honest caveats. Exemplar storage is still behind a feature flag in Prometheus v3.15.0. Exemplars are generated before tail sampling, so a clicked trace can be missing: Grafana Cloud docs say they cannot guarantee that the trace for an exemplar has been sampled. The default Prometheus 3.x graph page does not show exemplars, this comes from reading the source on main, not from running a server. OpenMetrics 1.0 defines exemplars for counter totals and histogram buckets.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docs/exemplars-to-traces-drilldown-plan.md in this repo. Planned, not shipped. The plan adds an 'Enable exemplar query' checkbox on the main metric panel, off by default, hidden or disabled for gauge metrics, and a second link in the exemplar tooltip that opens Traces Drilldown. The tooltip already links to Explore. The plan lists Mimir and Thanos exemplar behavior as unverified. The panel mock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questions, not promises. Each maps to a switch in the setup slides. End on the takeaway line, which is framing, not a measured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behind each slide. Quotes were checked against raw page or source text. Where a docs page and the Grafana source disagree (marker shape), the slide follows the source and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029200" cy="155448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548640" y="2880360"/>
            <a:ext cx="4846320" cy="10058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548640" y="1143000"/>
            <a:ext cx="5029200" cy="1554480"/>
          </a:xfrm>
          <a:prstGeom prst="rect">
            <a:avLst/>
          </a:prstGeom>
          <a:noFill/>
          <a:ln/>
        </p:spPr>
        <p:txBody>
          <a:bodyPr wrap="square" lIns="0" tIns="0" rIns="0" bIns="0" rtlCol="0" anchor="t"/>
          <a:lstStyle/>
          <a:p>
            <a:pPr indent="0" marL="0">
              <a:buNone/>
            </a:pPr>
            <a:r>
              <a:rPr lang="en-US" sz="4400" b="1" dirty="0">
                <a:solidFill>
                  <a:schemeClr val="bg1"/>
                </a:solidFill>
              </a:rPr>
              <a:t>Exemplars for dummies</a:t>
            </a:r>
            <a:endParaRPr lang="en-US" sz="4400" dirty="0"/>
          </a:p>
        </p:txBody>
      </p:sp>
      <p:sp>
        <p:nvSpPr>
          <p:cNvPr id="4" name="Text 0"/>
          <p:cNvSpPr/>
          <p:nvPr>
            <p:ph idx="101" type="body" hasCustomPrompt="1"/>
          </p:nvPr>
        </p:nvSpPr>
        <p:spPr>
          <a:xfrm>
            <a:off x="548640" y="2880360"/>
            <a:ext cx="4846320" cy="1005840"/>
          </a:xfrm>
          <a:prstGeom prst="rect">
            <a:avLst/>
          </a:prstGeom>
          <a:noFill/>
          <a:ln/>
        </p:spPr>
        <p:txBody>
          <a:bodyPr wrap="square" lIns="0" tIns="0" rIns="0" bIns="0" rtlCol="0" anchor="t"/>
          <a:lstStyle/>
          <a:p>
            <a:pPr indent="0" marL="0">
              <a:buNone/>
            </a:pPr>
            <a:r>
              <a:rPr lang="en-US" sz="1800" dirty="0">
                <a:solidFill>
                  <a:schemeClr val="bg2"/>
                </a:solidFill>
              </a:rPr>
              <a:t>How a dot on a metrics graph leads to the exact request behind a slowdown</a:t>
            </a:r>
            <a:endParaRPr lang="en-US" sz="1800" dirty="0"/>
          </a:p>
        </p:txBody>
      </p:sp>
      <p:sp>
        <p:nvSpPr>
          <p:cNvPr id="5" name="Text 2"/>
          <p:cNvSpPr txBox="1"/>
          <p:nvPr/>
        </p:nvSpPr>
        <p:spPr>
          <a:xfrm>
            <a:off x="548640" y="4297680"/>
            <a:ext cx="4572000" cy="274320"/>
          </a:xfrm>
          <a:prstGeom prst="rect">
            <a:avLst/>
          </a:prstGeom>
          <a:noFill/>
          <a:ln/>
        </p:spPr>
        <p:txBody>
          <a:bodyPr wrap="square" lIns="0" tIns="0" rIns="0" bIns="0" rtlCol="0" anchor="t"/>
          <a:lstStyle/>
          <a:p>
            <a:pPr indent="0" marL="0">
              <a:buNone/>
            </a:pPr>
            <a:r>
              <a:rPr lang="en-US" sz="1400" dirty="0">
                <a:solidFill>
                  <a:schemeClr val="accent5"/>
                </a:solidFill>
              </a:rPr>
              <a:t>For managers and product designers</a:t>
            </a:r>
            <a:endParaRPr lang="en-US" sz="1400" dirty="0"/>
          </a:p>
        </p:txBody>
      </p:sp>
      <p:sp>
        <p:nvSpPr>
          <p:cNvPr id="6" name="Panel"/>
          <p:cNvSpPr/>
          <p:nvPr/>
        </p:nvSpPr>
        <p:spPr>
          <a:xfrm>
            <a:off x="5760720" y="822960"/>
            <a:ext cx="2926080" cy="2011680"/>
          </a:xfrm>
          <a:prstGeom prst="roundRect">
            <a:avLst>
              <a:gd name="adj" fmla="val 4545"/>
            </a:avLst>
          </a:prstGeom>
          <a:solidFill>
            <a:schemeClr val="tx2"/>
          </a:solidFill>
          <a:ln/>
        </p:spPr>
      </p:sp>
      <p:sp>
        <p:nvSpPr>
          <p:cNvPr id="7" name="Series line"/>
          <p:cNvSpPr/>
          <p:nvPr/>
        </p:nvSpPr>
        <p:spPr>
          <a:xfrm>
            <a:off x="5989320" y="1143000"/>
            <a:ext cx="2468880" cy="1371600"/>
          </a:xfrm>
          <a:custGeom>
            <a:avLst/>
            <a:gdLst/>
            <a:ahLst/>
            <a:cxnLst/>
            <a:rect l="l" t="t" r="r" b="b"/>
            <a:pathLst>
              <a:path w="2468880" h="1371600">
                <a:moveTo>
                  <a:pt x="0" y="1028700"/>
                </a:moveTo>
                <a:lnTo>
                  <a:pt x="493776" y="932688"/>
                </a:lnTo>
                <a:lnTo>
                  <a:pt x="987552" y="987552"/>
                </a:lnTo>
                <a:lnTo>
                  <a:pt x="1357884" y="850392"/>
                </a:lnTo>
                <a:lnTo>
                  <a:pt x="1678838" y="137160"/>
                </a:lnTo>
                <a:lnTo>
                  <a:pt x="1975104" y="822960"/>
                </a:lnTo>
                <a:lnTo>
                  <a:pt x="2468880" y="905256"/>
                </a:lnTo>
              </a:path>
            </a:pathLst>
          </a:custGeom>
          <a:ln w="38100">
            <a:solidFill>
              <a:schemeClr val="bg2"/>
            </a:solidFill>
            <a:prstDash val="solid"/>
          </a:ln>
        </p:spPr>
      </p:sp>
      <p:sp>
        <p:nvSpPr>
          <p:cNvPr id="8" name="Exemplar diamond"/>
          <p:cNvSpPr/>
          <p:nvPr/>
        </p:nvSpPr>
        <p:spPr>
          <a:xfrm>
            <a:off x="7512710" y="1124712"/>
            <a:ext cx="310896" cy="310896"/>
          </a:xfrm>
          <a:prstGeom prst="diamond">
            <a:avLst/>
          </a:prstGeom>
          <a:solidFill>
            <a:schemeClr val="accent1"/>
          </a:solidFill>
          <a:ln/>
        </p:spPr>
      </p:sp>
      <p:sp>
        <p:nvSpPr>
          <p:cNvPr id="9" name="Link"/>
          <p:cNvSpPr/>
          <p:nvPr/>
        </p:nvSpPr>
        <p:spPr>
          <a:xfrm>
            <a:off x="7668158" y="1435608"/>
            <a:ext cx="0" cy="1417320"/>
          </a:xfrm>
          <a:prstGeom prst="line">
            <a:avLst/>
          </a:prstGeom>
          <a:noFill/>
          <a:ln w="19050">
            <a:solidFill>
              <a:schemeClr val="accent1"/>
            </a:solidFill>
            <a:prstDash val="dash"/>
          </a:ln>
        </p:spPr>
      </p:sp>
      <p:sp>
        <p:nvSpPr>
          <p:cNvPr id="10" name="Trace panel"/>
          <p:cNvSpPr/>
          <p:nvPr/>
        </p:nvSpPr>
        <p:spPr>
          <a:xfrm>
            <a:off x="5760720" y="3017520"/>
            <a:ext cx="2926080" cy="1417320"/>
          </a:xfrm>
          <a:prstGeom prst="roundRect">
            <a:avLst>
              <a:gd name="adj" fmla="val 6452"/>
            </a:avLst>
          </a:prstGeom>
          <a:solidFill>
            <a:schemeClr val="bg1"/>
          </a:solidFill>
          <a:ln/>
        </p:spPr>
      </p:sp>
      <p:sp>
        <p:nvSpPr>
          <p:cNvPr id="11" name="Span bar"/>
          <p:cNvSpPr/>
          <p:nvPr/>
        </p:nvSpPr>
        <p:spPr>
          <a:xfrm>
            <a:off x="5943600" y="3200400"/>
            <a:ext cx="2468880" cy="164592"/>
          </a:xfrm>
          <a:prstGeom prst="roundRect">
            <a:avLst>
              <a:gd name="adj" fmla="val 22222"/>
            </a:avLst>
          </a:prstGeom>
          <a:solidFill>
            <a:schemeClr val="accent3"/>
          </a:solidFill>
          <a:ln/>
        </p:spPr>
      </p:sp>
      <p:sp>
        <p:nvSpPr>
          <p:cNvPr id="12" name="Span bar"/>
          <p:cNvSpPr/>
          <p:nvPr/>
        </p:nvSpPr>
        <p:spPr>
          <a:xfrm>
            <a:off x="6172200" y="3456432"/>
            <a:ext cx="1737360" cy="164592"/>
          </a:xfrm>
          <a:prstGeom prst="roundRect">
            <a:avLst>
              <a:gd name="adj" fmla="val 22222"/>
            </a:avLst>
          </a:prstGeom>
          <a:solidFill>
            <a:schemeClr val="accent2"/>
          </a:solidFill>
          <a:ln/>
        </p:spPr>
      </p:sp>
      <p:sp>
        <p:nvSpPr>
          <p:cNvPr id="13" name="Span bar"/>
          <p:cNvSpPr/>
          <p:nvPr/>
        </p:nvSpPr>
        <p:spPr>
          <a:xfrm>
            <a:off x="6400800" y="3712464"/>
            <a:ext cx="1371600" cy="164592"/>
          </a:xfrm>
          <a:prstGeom prst="roundRect">
            <a:avLst>
              <a:gd name="adj" fmla="val 22222"/>
            </a:avLst>
          </a:prstGeom>
          <a:solidFill>
            <a:schemeClr val="accent1"/>
          </a:solidFill>
          <a:ln/>
        </p:spPr>
      </p:sp>
      <p:sp>
        <p:nvSpPr>
          <p:cNvPr id="14" name="Span bar"/>
          <p:cNvSpPr/>
          <p:nvPr/>
        </p:nvSpPr>
        <p:spPr>
          <a:xfrm>
            <a:off x="6400800" y="3968496"/>
            <a:ext cx="457200" cy="164592"/>
          </a:xfrm>
          <a:prstGeom prst="roundRect">
            <a:avLst>
              <a:gd name="adj" fmla="val 22222"/>
            </a:avLst>
          </a:prstGeom>
          <a:solidFill>
            <a:schemeClr val="accent4"/>
          </a:solidFill>
          <a:ln/>
        </p:spPr>
      </p:sp>
      <p:sp>
        <p:nvSpPr>
          <p:cNvPr id="15" name="Text 12"/>
          <p:cNvSpPr txBox="1"/>
          <p:nvPr/>
        </p:nvSpPr>
        <p:spPr>
          <a:xfrm>
            <a:off x="5943600" y="4206240"/>
            <a:ext cx="2560320" cy="182880"/>
          </a:xfrm>
          <a:prstGeom prst="rect">
            <a:avLst/>
          </a:prstGeom>
          <a:noFill/>
          <a:ln/>
        </p:spPr>
        <p:txBody>
          <a:bodyPr wrap="square" lIns="0" tIns="0" rIns="0" bIns="0" rtlCol="0" anchor="t"/>
          <a:lstStyle/>
          <a:p>
            <a:pPr indent="0" marL="0">
              <a:buNone/>
            </a:pPr>
            <a:r>
              <a:rPr lang="en-US" sz="1100" dirty="0">
                <a:solidFill>
                  <a:schemeClr val="tx2"/>
                </a:solidFill>
              </a:rPr>
              <a:t>One request, step by step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Which request was slow?</a:t>
            </a:r>
            <a:endParaRPr lang="en-US" sz="3400" dirty="0"/>
          </a:p>
        </p:txBody>
      </p:sp>
      <p:sp>
        <p:nvSpPr>
          <p:cNvPr id="4" name="Graph card"/>
          <p:cNvSpPr/>
          <p:nvPr/>
        </p:nvSpPr>
        <p:spPr>
          <a:xfrm>
            <a:off x="457200" y="1234440"/>
            <a:ext cx="3840480" cy="3108960"/>
          </a:xfrm>
          <a:prstGeom prst="roundRect">
            <a:avLst>
              <a:gd name="adj" fmla="val 2353"/>
            </a:avLst>
          </a:prstGeom>
          <a:solidFill>
            <a:schemeClr val="bg2"/>
          </a:solidFill>
          <a:ln/>
          <a:effectLst>
            <a:outerShdw sx="100000" sy="100000" kx="0" ky="0" algn="bl" rotWithShape="0" blurRad="76200" dist="25400" dir="5400000">
              <a:srgbClr val="000000">
                <a:alpha val="12000"/>
              </a:srgbClr>
            </a:outerShdw>
          </a:effectLst>
        </p:spPr>
      </p:sp>
      <p:sp>
        <p:nvSpPr>
          <p:cNvPr id="5" name="Axis"/>
          <p:cNvSpPr/>
          <p:nvPr/>
        </p:nvSpPr>
        <p:spPr>
          <a:xfrm>
            <a:off x="685800" y="3886200"/>
            <a:ext cx="3383280" cy="0"/>
          </a:xfrm>
          <a:prstGeom prst="line">
            <a:avLst/>
          </a:prstGeom>
          <a:noFill/>
          <a:ln w="12700">
            <a:solidFill>
              <a:schemeClr val="accent5"/>
            </a:solidFill>
            <a:prstDash val="solid"/>
          </a:ln>
        </p:spPr>
      </p:sp>
      <p:sp>
        <p:nvSpPr>
          <p:cNvPr id="6" name="Series line"/>
          <p:cNvSpPr/>
          <p:nvPr/>
        </p:nvSpPr>
        <p:spPr>
          <a:xfrm>
            <a:off x="685800" y="1554480"/>
            <a:ext cx="3383280" cy="2331720"/>
          </a:xfrm>
          <a:custGeom>
            <a:avLst/>
            <a:gdLst/>
            <a:ahLst/>
            <a:cxnLst/>
            <a:rect l="l" t="t" r="r" b="b"/>
            <a:pathLst>
              <a:path w="3383280" h="2331720">
                <a:moveTo>
                  <a:pt x="0" y="1678838"/>
                </a:moveTo>
                <a:lnTo>
                  <a:pt x="473659" y="1538935"/>
                </a:lnTo>
                <a:lnTo>
                  <a:pt x="947318" y="1632204"/>
                </a:lnTo>
                <a:lnTo>
                  <a:pt x="1420978" y="1399032"/>
                </a:lnTo>
                <a:lnTo>
                  <a:pt x="1826971" y="1492301"/>
                </a:lnTo>
                <a:lnTo>
                  <a:pt x="2165299" y="279806"/>
                </a:lnTo>
                <a:lnTo>
                  <a:pt x="2503627" y="1282446"/>
                </a:lnTo>
                <a:lnTo>
                  <a:pt x="2909621" y="1445666"/>
                </a:lnTo>
                <a:lnTo>
                  <a:pt x="3383280" y="1352398"/>
                </a:lnTo>
              </a:path>
            </a:pathLst>
          </a:custGeom>
          <a:ln w="38100">
            <a:solidFill>
              <a:schemeClr val="accent4"/>
            </a:solidFill>
            <a:prstDash val="solid"/>
          </a:ln>
        </p:spPr>
      </p:sp>
      <p:sp>
        <p:nvSpPr>
          <p:cNvPr id="7" name="Text 4"/>
          <p:cNvSpPr txBox="1"/>
          <p:nvPr/>
        </p:nvSpPr>
        <p:spPr>
          <a:xfrm>
            <a:off x="2668219" y="1422806"/>
            <a:ext cx="1645920" cy="274320"/>
          </a:xfrm>
          <a:prstGeom prst="rect">
            <a:avLst/>
          </a:prstGeom>
          <a:noFill/>
          <a:ln/>
        </p:spPr>
        <p:txBody>
          <a:bodyPr wrap="square" lIns="0" tIns="0" rIns="0" bIns="0" rtlCol="0" anchor="t"/>
          <a:lstStyle/>
          <a:p>
            <a:pPr indent="0" marL="0">
              <a:buNone/>
            </a:pPr>
            <a:r>
              <a:rPr lang="en-US" sz="1200" b="1" dirty="0">
                <a:solidFill>
                  <a:schemeClr val="accent4"/>
                </a:solidFill>
              </a:rPr>
              <a:t>Latency spikes here</a:t>
            </a:r>
            <a:endParaRPr lang="en-US" sz="1200" dirty="0"/>
          </a:p>
        </p:txBody>
      </p:sp>
      <p:sp>
        <p:nvSpPr>
          <p:cNvPr id="8" name="Text 5"/>
          <p:cNvSpPr txBox="1"/>
          <p:nvPr/>
        </p:nvSpPr>
        <p:spPr>
          <a:xfrm>
            <a:off x="2896819" y="1971446"/>
            <a:ext cx="548640" cy="548640"/>
          </a:xfrm>
          <a:prstGeom prst="rect">
            <a:avLst/>
          </a:prstGeom>
          <a:noFill/>
          <a:ln/>
        </p:spPr>
        <p:txBody>
          <a:bodyPr wrap="square" lIns="0" tIns="0" rIns="0" bIns="0" rtlCol="0" anchor="t"/>
          <a:lstStyle/>
          <a:p>
            <a:pPr indent="0" marL="0">
              <a:buNone/>
            </a:pPr>
            <a:r>
              <a:rPr lang="en-US" sz="3600" b="1" dirty="0">
                <a:solidFill>
                  <a:schemeClr val="accent4"/>
                </a:solidFill>
                <a:latin typeface="Cambria" pitchFamily="34" charset="0"/>
                <a:ea typeface="Cambria" pitchFamily="34" charset="-122"/>
                <a:cs typeface="Cambria" pitchFamily="34" charset="-120"/>
              </a:rPr>
              <a:t>?</a:t>
            </a:r>
            <a:endParaRPr lang="en-US" sz="3600" dirty="0"/>
          </a:p>
        </p:txBody>
      </p:sp>
      <p:sp>
        <p:nvSpPr>
          <p:cNvPr id="9" name="Text 6"/>
          <p:cNvSpPr txBox="1"/>
          <p:nvPr/>
        </p:nvSpPr>
        <p:spPr>
          <a:xfrm>
            <a:off x="685800" y="3977640"/>
            <a:ext cx="3383280" cy="228600"/>
          </a:xfrm>
          <a:prstGeom prst="rect">
            <a:avLst/>
          </a:prstGeom>
          <a:noFill/>
          <a:ln/>
        </p:spPr>
        <p:txBody>
          <a:bodyPr wrap="square" lIns="0" tIns="0" rIns="0" bIns="0" rtlCol="0" anchor="t"/>
          <a:lstStyle/>
          <a:p>
            <a:pPr indent="0" marL="0">
              <a:buNone/>
            </a:pPr>
            <a:r>
              <a:rPr lang="en-US" sz="1000" dirty="0">
                <a:solidFill>
                  <a:schemeClr val="tx2"/>
                </a:solidFill>
              </a:rPr>
              <a:t>Illustrative graph: request latency over time</a:t>
            </a:r>
            <a:endParaRPr lang="en-US" sz="1000" dirty="0"/>
          </a:p>
        </p:txBody>
      </p:sp>
      <p:sp>
        <p:nvSpPr>
          <p:cNvPr id="10" name="Text 7"/>
          <p:cNvSpPr txBox="1"/>
          <p:nvPr/>
        </p:nvSpPr>
        <p:spPr>
          <a:xfrm>
            <a:off x="4663440" y="1280160"/>
            <a:ext cx="3931920" cy="274320"/>
          </a:xfrm>
          <a:prstGeom prst="rect">
            <a:avLst/>
          </a:prstGeom>
          <a:noFill/>
          <a:ln/>
        </p:spPr>
        <p:txBody>
          <a:bodyPr wrap="square" lIns="0" tIns="0" rIns="0" bIns="0" rtlCol="0" anchor="t"/>
          <a:lstStyle/>
          <a:p>
            <a:pPr indent="0" marL="0">
              <a:buNone/>
            </a:pPr>
            <a:r>
              <a:rPr lang="en-US" sz="1200" b="1" dirty="0">
                <a:solidFill>
                  <a:schemeClr val="accent2"/>
                </a:solidFill>
              </a:rPr>
              <a:t>From the Grafana docs</a:t>
            </a:r>
            <a:endParaRPr lang="en-US" sz="1200" dirty="0"/>
          </a:p>
        </p:txBody>
      </p:sp>
      <p:sp>
        <p:nvSpPr>
          <p:cNvPr id="11" name="Text 8"/>
          <p:cNvSpPr txBox="1"/>
          <p:nvPr/>
        </p:nvSpPr>
        <p:spPr>
          <a:xfrm>
            <a:off x="4663440" y="1600200"/>
            <a:ext cx="4023360" cy="1828800"/>
          </a:xfrm>
          <a:prstGeom prst="rect">
            <a:avLst/>
          </a:prstGeom>
          <a:noFill/>
          <a:ln/>
        </p:spPr>
        <p:txBody>
          <a:bodyPr wrap="square" lIns="0" tIns="0" rIns="0" bIns="0" rtlCol="0" anchor="t"/>
          <a:lstStyle/>
          <a:p>
            <a:pPr indent="0" marL="0">
              <a:buNone/>
            </a:pPr>
            <a:r>
              <a:rPr lang="en-US" sz="1500" i="1" dirty="0">
                <a:solidFill>
                  <a:schemeClr val="tx1"/>
                </a:solidFill>
              </a:rPr>
              <a:t>“To identify the factors that are contributing to the latency, you must compare a trace for a fast response against a trace for a slow response. Given the vast amount of data in a typical production environment, it's an extremely laborious and time-consuming effort.”</a:t>
            </a:r>
            <a:endParaRPr lang="en-US" sz="1500" dirty="0"/>
          </a:p>
        </p:txBody>
      </p:sp>
      <p:sp>
        <p:nvSpPr>
          <p:cNvPr id="12" name="Text 9"/>
          <p:cNvSpPr txBox="1"/>
          <p:nvPr/>
        </p:nvSpPr>
        <p:spPr>
          <a:xfrm>
            <a:off x="4663440" y="3611880"/>
            <a:ext cx="4023360" cy="731520"/>
          </a:xfrm>
          <a:prstGeom prst="rect">
            <a:avLst/>
          </a:prstGeom>
          <a:noFill/>
          <a:ln/>
        </p:spPr>
        <p:txBody>
          <a:bodyPr wrap="square" lIns="0" tIns="0" rIns="0" bIns="0" rtlCol="0" anchor="t"/>
          <a:lstStyle/>
          <a:p>
            <a:pPr indent="0" marL="0">
              <a:buNone/>
            </a:pPr>
            <a:r>
              <a:rPr lang="en-US" sz="1600" dirty="0">
                <a:solidFill>
                  <a:schemeClr val="tx1"/>
                </a:solidFill>
              </a:rPr>
              <a:t>A metric tells you when and how bad.</a:t>
            </a:r>
            <a:endParaRPr lang="en-US" sz="1600" dirty="0"/>
          </a:p>
          <a:p>
            <a:pPr indent="0" marL="0">
              <a:buNone/>
            </a:pPr>
            <a:r>
              <a:rPr lang="en-US" sz="1600" b="1" dirty="0">
                <a:solidFill>
                  <a:schemeClr val="tx1"/>
                </a:solidFill>
              </a:rPr>
              <a:t>It does not tell you which request.</a:t>
            </a:r>
            <a:endParaRPr lang="en-US" sz="1600" dirty="0"/>
          </a:p>
        </p:txBody>
      </p:sp>
      <p:sp>
        <p:nvSpPr>
          <p:cNvPr id="13" name="Source note"/>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chemeClr val="tx2"/>
                </a:solidFill>
              </a:rPr>
              <a:t>Source: grafana.com/docs/grafana/latest/fundamentals/exemplars/</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An exemplar links the two</a:t>
            </a:r>
            <a:endParaRPr lang="en-US" sz="3400" dirty="0"/>
          </a:p>
        </p:txBody>
      </p:sp>
      <p:sp>
        <p:nvSpPr>
          <p:cNvPr id="4" name="Metric card"/>
          <p:cNvSpPr/>
          <p:nvPr/>
        </p:nvSpPr>
        <p:spPr>
          <a:xfrm>
            <a:off x="457200" y="1280160"/>
            <a:ext cx="2377440" cy="2148840"/>
          </a:xfrm>
          <a:prstGeom prst="roundRect">
            <a:avLst>
              <a:gd name="adj" fmla="val 3404"/>
            </a:avLst>
          </a:prstGeom>
          <a:solidFill>
            <a:schemeClr val="bg2"/>
          </a:solidFill>
          <a:ln/>
          <a:effectLst>
            <a:outerShdw sx="100000" sy="100000" kx="0" ky="0" algn="bl" rotWithShape="0" blurRad="76200" dist="25400" dir="5400000">
              <a:srgbClr val="000000">
                <a:alpha val="12000"/>
              </a:srgbClr>
            </a:outerShdw>
          </a:effectLst>
        </p:spPr>
      </p:sp>
      <p:sp>
        <p:nvSpPr>
          <p:cNvPr id="5" name="Metric badge"/>
          <p:cNvSpPr/>
          <p:nvPr/>
        </p:nvSpPr>
        <p:spPr>
          <a:xfrm>
            <a:off x="685800" y="1508760"/>
            <a:ext cx="457200" cy="457200"/>
          </a:xfrm>
          <a:prstGeom prst="ellipse">
            <a:avLst/>
          </a:prstGeom>
          <a:solidFill>
            <a:schemeClr val="accent2"/>
          </a:solidFill>
          <a:ln/>
        </p:spPr>
      </p:sp>
      <p:sp>
        <p:nvSpPr>
          <p:cNvPr id="6" name="Text 3"/>
          <p:cNvSpPr txBox="1"/>
          <p:nvPr/>
        </p:nvSpPr>
        <p:spPr>
          <a:xfrm>
            <a:off x="1280160" y="1554480"/>
            <a:ext cx="1371600" cy="36576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Metric</a:t>
            </a:r>
            <a:endParaRPr lang="en-US" sz="2200" dirty="0"/>
          </a:p>
        </p:txBody>
      </p:sp>
      <p:sp>
        <p:nvSpPr>
          <p:cNvPr id="7" name="Text 4"/>
          <p:cNvSpPr txBox="1"/>
          <p:nvPr/>
        </p:nvSpPr>
        <p:spPr>
          <a:xfrm>
            <a:off x="685800" y="2194560"/>
            <a:ext cx="1920240" cy="1097280"/>
          </a:xfrm>
          <a:prstGeom prst="rect">
            <a:avLst/>
          </a:prstGeom>
          <a:noFill/>
          <a:ln/>
        </p:spPr>
        <p:txBody>
          <a:bodyPr wrap="square" lIns="0" tIns="0" rIns="0" bIns="0" rtlCol="0" anchor="t"/>
          <a:lstStyle/>
          <a:p>
            <a:pPr indent="0" marL="0">
              <a:buNone/>
            </a:pPr>
            <a:r>
              <a:rPr lang="en-US" sz="1600" dirty="0">
                <a:solidFill>
                  <a:schemeClr val="tx1"/>
                </a:solidFill>
              </a:rPr>
              <a:t>An aggregated view of your system. Example: how long requests take.</a:t>
            </a:r>
            <a:endParaRPr lang="en-US" sz="1600" dirty="0"/>
          </a:p>
        </p:txBody>
      </p:sp>
      <p:sp>
        <p:nvSpPr>
          <p:cNvPr id="8" name="Arrow"/>
          <p:cNvSpPr/>
          <p:nvPr/>
        </p:nvSpPr>
        <p:spPr>
          <a:xfrm>
            <a:off x="2926080" y="2171700"/>
            <a:ext cx="365760" cy="365760"/>
          </a:xfrm>
          <a:prstGeom prst="rightArrow">
            <a:avLst/>
          </a:prstGeom>
          <a:solidFill>
            <a:schemeClr val="accent5"/>
          </a:solidFill>
          <a:ln/>
        </p:spPr>
      </p:sp>
      <p:sp>
        <p:nvSpPr>
          <p:cNvPr id="9" name="Exemplar card"/>
          <p:cNvSpPr/>
          <p:nvPr/>
        </p:nvSpPr>
        <p:spPr>
          <a:xfrm>
            <a:off x="3383280" y="1280160"/>
            <a:ext cx="2377440" cy="2148840"/>
          </a:xfrm>
          <a:prstGeom prst="roundRect">
            <a:avLst>
              <a:gd name="adj" fmla="val 3404"/>
            </a:avLst>
          </a:prstGeom>
          <a:solidFill>
            <a:schemeClr val="bg2"/>
          </a:solidFill>
          <a:ln/>
          <a:effectLst>
            <a:outerShdw sx="100000" sy="100000" kx="0" ky="0" algn="bl" rotWithShape="0" blurRad="76200" dist="25400" dir="5400000">
              <a:srgbClr val="000000">
                <a:alpha val="12000"/>
              </a:srgbClr>
            </a:outerShdw>
          </a:effectLst>
        </p:spPr>
      </p:sp>
      <p:sp>
        <p:nvSpPr>
          <p:cNvPr id="10" name="Exemplar badge"/>
          <p:cNvSpPr/>
          <p:nvPr/>
        </p:nvSpPr>
        <p:spPr>
          <a:xfrm>
            <a:off x="3611880" y="1508760"/>
            <a:ext cx="457200" cy="457200"/>
          </a:xfrm>
          <a:prstGeom prst="ellipse">
            <a:avLst/>
          </a:prstGeom>
          <a:solidFill>
            <a:schemeClr val="accent1"/>
          </a:solidFill>
          <a:ln/>
        </p:spPr>
      </p:sp>
      <p:sp>
        <p:nvSpPr>
          <p:cNvPr id="11" name="Exemplar diamond"/>
          <p:cNvSpPr/>
          <p:nvPr/>
        </p:nvSpPr>
        <p:spPr>
          <a:xfrm>
            <a:off x="3721608" y="1618488"/>
            <a:ext cx="237744" cy="237744"/>
          </a:xfrm>
          <a:prstGeom prst="diamond">
            <a:avLst/>
          </a:prstGeom>
          <a:solidFill>
            <a:schemeClr val="tx1"/>
          </a:solidFill>
          <a:ln/>
        </p:spPr>
      </p:sp>
      <p:sp>
        <p:nvSpPr>
          <p:cNvPr id="12" name="Text 9"/>
          <p:cNvSpPr txBox="1"/>
          <p:nvPr/>
        </p:nvSpPr>
        <p:spPr>
          <a:xfrm>
            <a:off x="4206240" y="1554480"/>
            <a:ext cx="1371600" cy="36576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Exemplar</a:t>
            </a:r>
            <a:endParaRPr lang="en-US" sz="2200" dirty="0"/>
          </a:p>
        </p:txBody>
      </p:sp>
      <p:sp>
        <p:nvSpPr>
          <p:cNvPr id="13" name="Text 10"/>
          <p:cNvSpPr txBox="1"/>
          <p:nvPr/>
        </p:nvSpPr>
        <p:spPr>
          <a:xfrm>
            <a:off x="3611880" y="2194560"/>
            <a:ext cx="1920240" cy="1097280"/>
          </a:xfrm>
          <a:prstGeom prst="rect">
            <a:avLst/>
          </a:prstGeom>
          <a:noFill/>
          <a:ln/>
        </p:spPr>
        <p:txBody>
          <a:bodyPr wrap="square" lIns="0" tIns="0" rIns="0" bIns="0" rtlCol="0" anchor="t"/>
          <a:lstStyle/>
          <a:p>
            <a:pPr indent="0" marL="0">
              <a:buNone/>
            </a:pPr>
            <a:r>
              <a:rPr lang="en-US" sz="1600" dirty="0">
                <a:solidFill>
                  <a:schemeClr val="tx1"/>
                </a:solidFill>
              </a:rPr>
              <a:t>The link. A trace ID attached to one metric measurement.</a:t>
            </a:r>
            <a:endParaRPr lang="en-US" sz="1600" dirty="0"/>
          </a:p>
        </p:txBody>
      </p:sp>
      <p:sp>
        <p:nvSpPr>
          <p:cNvPr id="14" name="Arrow"/>
          <p:cNvSpPr/>
          <p:nvPr/>
        </p:nvSpPr>
        <p:spPr>
          <a:xfrm>
            <a:off x="5852160" y="2171700"/>
            <a:ext cx="365760" cy="365760"/>
          </a:xfrm>
          <a:prstGeom prst="rightArrow">
            <a:avLst/>
          </a:prstGeom>
          <a:solidFill>
            <a:schemeClr val="accent5"/>
          </a:solidFill>
          <a:ln/>
        </p:spPr>
      </p:sp>
      <p:sp>
        <p:nvSpPr>
          <p:cNvPr id="15" name="Trace card"/>
          <p:cNvSpPr/>
          <p:nvPr/>
        </p:nvSpPr>
        <p:spPr>
          <a:xfrm>
            <a:off x="6309360" y="1280160"/>
            <a:ext cx="2377440" cy="2148840"/>
          </a:xfrm>
          <a:prstGeom prst="roundRect">
            <a:avLst>
              <a:gd name="adj" fmla="val 3404"/>
            </a:avLst>
          </a:prstGeom>
          <a:solidFill>
            <a:schemeClr val="bg2"/>
          </a:solidFill>
          <a:ln/>
          <a:effectLst>
            <a:outerShdw sx="100000" sy="100000" kx="0" ky="0" algn="bl" rotWithShape="0" blurRad="76200" dist="25400" dir="5400000">
              <a:srgbClr val="000000">
                <a:alpha val="12000"/>
              </a:srgbClr>
            </a:outerShdw>
          </a:effectLst>
        </p:spPr>
      </p:sp>
      <p:sp>
        <p:nvSpPr>
          <p:cNvPr id="16" name="Trace badge"/>
          <p:cNvSpPr/>
          <p:nvPr/>
        </p:nvSpPr>
        <p:spPr>
          <a:xfrm>
            <a:off x="6537960" y="1508760"/>
            <a:ext cx="457200" cy="457200"/>
          </a:xfrm>
          <a:prstGeom prst="ellipse">
            <a:avLst/>
          </a:prstGeom>
          <a:solidFill>
            <a:schemeClr val="accent3"/>
          </a:solidFill>
          <a:ln/>
        </p:spPr>
      </p:sp>
      <p:sp>
        <p:nvSpPr>
          <p:cNvPr id="17" name="Text 14"/>
          <p:cNvSpPr txBox="1"/>
          <p:nvPr/>
        </p:nvSpPr>
        <p:spPr>
          <a:xfrm>
            <a:off x="7132320" y="1554480"/>
            <a:ext cx="1371600" cy="36576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Trace</a:t>
            </a:r>
            <a:endParaRPr lang="en-US" sz="2200" dirty="0"/>
          </a:p>
        </p:txBody>
      </p:sp>
      <p:sp>
        <p:nvSpPr>
          <p:cNvPr id="18" name="Text 15"/>
          <p:cNvSpPr txBox="1"/>
          <p:nvPr/>
        </p:nvSpPr>
        <p:spPr>
          <a:xfrm>
            <a:off x="6537960" y="2194560"/>
            <a:ext cx="1920240" cy="1097280"/>
          </a:xfrm>
          <a:prstGeom prst="rect">
            <a:avLst/>
          </a:prstGeom>
          <a:noFill/>
          <a:ln/>
        </p:spPr>
        <p:txBody>
          <a:bodyPr wrap="square" lIns="0" tIns="0" rIns="0" bIns="0" rtlCol="0" anchor="t"/>
          <a:lstStyle/>
          <a:p>
            <a:pPr indent="0" marL="0">
              <a:buNone/>
            </a:pPr>
            <a:r>
              <a:rPr lang="en-US" sz="1600" dirty="0">
                <a:solidFill>
                  <a:schemeClr val="tx1"/>
                </a:solidFill>
              </a:rPr>
              <a:t>A fine grained view of a single request, step by step.</a:t>
            </a:r>
            <a:endParaRPr lang="en-US" sz="1600" dirty="0"/>
          </a:p>
        </p:txBody>
      </p:sp>
      <p:sp>
        <p:nvSpPr>
          <p:cNvPr id="19" name="Text 16"/>
          <p:cNvSpPr txBox="1"/>
          <p:nvPr/>
        </p:nvSpPr>
        <p:spPr>
          <a:xfrm>
            <a:off x="457200" y="3657600"/>
            <a:ext cx="8229600" cy="457200"/>
          </a:xfrm>
          <a:prstGeom prst="rect">
            <a:avLst/>
          </a:prstGeom>
          <a:noFill/>
          <a:ln/>
        </p:spPr>
        <p:txBody>
          <a:bodyPr wrap="square" lIns="0" tIns="0" rIns="0" bIns="0" rtlCol="0" anchor="t"/>
          <a:lstStyle/>
          <a:p>
            <a:pPr indent="0" marL="0">
              <a:buNone/>
            </a:pPr>
            <a:r>
              <a:rPr lang="en-US" sz="1600" i="1" dirty="0">
                <a:solidFill>
                  <a:schemeClr val="tx1"/>
                </a:solidFill>
              </a:rPr>
              <a:t>“An exemplar is a specific trace representative of measurement taken in a given time interval.”</a:t>
            </a:r>
            <a:endParaRPr lang="en-US" sz="1600" dirty="0"/>
          </a:p>
        </p:txBody>
      </p:sp>
      <p:sp>
        <p:nvSpPr>
          <p:cNvPr id="20" name="Source note"/>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chemeClr val="tx2"/>
                </a:solidFill>
              </a:rPr>
              <a:t>Source: Grafana docs, Introduction to exemplars. grafana.com/docs/grafana/latest/fundamentals/exemplars/</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A story: the checkout spike</a:t>
            </a:r>
            <a:endParaRPr lang="en-US" sz="3400" dirty="0"/>
          </a:p>
        </p:txBody>
      </p:sp>
      <p:sp>
        <p:nvSpPr>
          <p:cNvPr id="4" name="Label chip"/>
          <p:cNvSpPr txBox="1"/>
          <p:nvPr/>
        </p:nvSpPr>
        <p:spPr>
          <a:xfrm>
            <a:off x="457200" y="1024128"/>
            <a:ext cx="3108960" cy="292608"/>
          </a:xfrm>
          <a:prstGeom prst="roundRect">
            <a:avLst>
              <a:gd name="adj" fmla="val 50000"/>
            </a:avLst>
          </a:prstGeom>
          <a:solidFill>
            <a:schemeClr val="accent1"/>
          </a:solidFill>
          <a:ln/>
        </p:spPr>
        <p:txBody>
          <a:bodyPr wrap="square" lIns="635" tIns="635" rIns="635" bIns="635" rtlCol="0" anchor="ctr"/>
          <a:lstStyle/>
          <a:p>
            <a:pPr algn="ctr" indent="0" marL="0">
              <a:buNone/>
            </a:pPr>
            <a:r>
              <a:rPr lang="en-US" sz="1200" b="1" dirty="0">
                <a:solidFill>
                  <a:schemeClr val="tx1"/>
                </a:solidFill>
              </a:rPr>
              <a:t>Illustrative story. Details are made up.</a:t>
            </a:r>
            <a:endParaRPr lang="en-US" sz="1200" dirty="0"/>
          </a:p>
        </p:txBody>
      </p:sp>
      <p:sp>
        <p:nvSpPr>
          <p:cNvPr id="5" name="Text 2"/>
          <p:cNvSpPr txBox="1"/>
          <p:nvPr/>
        </p:nvSpPr>
        <p:spPr>
          <a:xfrm>
            <a:off x="457200" y="1554480"/>
            <a:ext cx="1188720" cy="822960"/>
          </a:xfrm>
          <a:prstGeom prst="rect">
            <a:avLst/>
          </a:prstGeom>
          <a:noFill/>
          <a:ln/>
        </p:spPr>
        <p:txBody>
          <a:bodyPr wrap="square" lIns="0" tIns="0" rIns="0" bIns="0" rtlCol="0" anchor="t"/>
          <a:lstStyle/>
          <a:p>
            <a:pPr indent="0" marL="0">
              <a:buNone/>
            </a:pPr>
            <a:r>
              <a:rPr lang="en-US" sz="1600" b="1" dirty="0">
                <a:solidFill>
                  <a:schemeClr val="accent4"/>
                </a:solidFill>
                <a:latin typeface="Cambria" pitchFamily="34" charset="0"/>
                <a:ea typeface="Cambria" pitchFamily="34" charset="-122"/>
                <a:cs typeface="Cambria" pitchFamily="34" charset="-120"/>
              </a:rPr>
              <a:t>Without exemplars</a:t>
            </a:r>
            <a:endParaRPr lang="en-US" sz="1600" dirty="0"/>
          </a:p>
        </p:txBody>
      </p:sp>
      <p:sp>
        <p:nvSpPr>
          <p:cNvPr id="6" name="Without exemplars step 1"/>
          <p:cNvSpPr/>
          <p:nvPr/>
        </p:nvSpPr>
        <p:spPr>
          <a:xfrm>
            <a:off x="1737360" y="1463040"/>
            <a:ext cx="1600200" cy="1417320"/>
          </a:xfrm>
          <a:prstGeom prst="roundRect">
            <a:avLst>
              <a:gd name="adj" fmla="val 5161"/>
            </a:avLst>
          </a:prstGeom>
          <a:solidFill>
            <a:schemeClr val="bg2"/>
          </a:solidFill>
          <a:ln/>
          <a:effectLst>
            <a:outerShdw sx="100000" sy="100000" kx="0" ky="0" algn="bl" rotWithShape="0" blurRad="76200" dist="25400" dir="5400000">
              <a:srgbClr val="000000">
                <a:alpha val="12000"/>
              </a:srgbClr>
            </a:outerShdw>
          </a:effectLst>
        </p:spPr>
      </p:sp>
      <p:sp>
        <p:nvSpPr>
          <p:cNvPr id="7" name="Step 1"/>
          <p:cNvSpPr txBox="1"/>
          <p:nvPr/>
        </p:nvSpPr>
        <p:spPr>
          <a:xfrm>
            <a:off x="1847088" y="1572768"/>
            <a:ext cx="292608" cy="29260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5"/>
          <p:cNvSpPr txBox="1"/>
          <p:nvPr/>
        </p:nvSpPr>
        <p:spPr>
          <a:xfrm>
            <a:off x="1847088" y="1938528"/>
            <a:ext cx="1380744" cy="914400"/>
          </a:xfrm>
          <a:prstGeom prst="rect">
            <a:avLst/>
          </a:prstGeom>
          <a:noFill/>
          <a:ln/>
        </p:spPr>
        <p:txBody>
          <a:bodyPr wrap="square" lIns="0" tIns="0" rIns="0" bIns="0" rtlCol="0" anchor="t"/>
          <a:lstStyle/>
          <a:p>
            <a:pPr indent="0" marL="0">
              <a:buNone/>
            </a:pPr>
            <a:r>
              <a:rPr lang="en-US" sz="1400" dirty="0">
                <a:solidFill>
                  <a:schemeClr val="tx1"/>
                </a:solidFill>
              </a:rPr>
              <a:t>Latency graph for checkout jumps.</a:t>
            </a:r>
            <a:endParaRPr lang="en-US" sz="1400" dirty="0"/>
          </a:p>
        </p:txBody>
      </p:sp>
      <p:sp>
        <p:nvSpPr>
          <p:cNvPr id="9" name="Without exemplars step 2"/>
          <p:cNvSpPr/>
          <p:nvPr/>
        </p:nvSpPr>
        <p:spPr>
          <a:xfrm>
            <a:off x="3474720" y="1463040"/>
            <a:ext cx="1600200" cy="1417320"/>
          </a:xfrm>
          <a:prstGeom prst="roundRect">
            <a:avLst>
              <a:gd name="adj" fmla="val 5161"/>
            </a:avLst>
          </a:prstGeom>
          <a:solidFill>
            <a:schemeClr val="bg2"/>
          </a:solidFill>
          <a:ln/>
          <a:effectLst>
            <a:outerShdw sx="100000" sy="100000" kx="0" ky="0" algn="bl" rotWithShape="0" blurRad="76200" dist="25400" dir="5400000">
              <a:srgbClr val="000000">
                <a:alpha val="12000"/>
              </a:srgbClr>
            </a:outerShdw>
          </a:effectLst>
        </p:spPr>
      </p:sp>
      <p:sp>
        <p:nvSpPr>
          <p:cNvPr id="10" name="Step 2"/>
          <p:cNvSpPr txBox="1"/>
          <p:nvPr/>
        </p:nvSpPr>
        <p:spPr>
          <a:xfrm>
            <a:off x="3584448" y="1572768"/>
            <a:ext cx="292608" cy="29260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584448" y="1938528"/>
            <a:ext cx="1380744" cy="914400"/>
          </a:xfrm>
          <a:prstGeom prst="rect">
            <a:avLst/>
          </a:prstGeom>
          <a:noFill/>
          <a:ln/>
        </p:spPr>
        <p:txBody>
          <a:bodyPr wrap="square" lIns="0" tIns="0" rIns="0" bIns="0" rtlCol="0" anchor="t"/>
          <a:lstStyle/>
          <a:p>
            <a:pPr indent="0" marL="0">
              <a:buNone/>
            </a:pPr>
            <a:r>
              <a:rPr lang="en-US" sz="1400" dirty="0">
                <a:solidFill>
                  <a:schemeClr val="tx1"/>
                </a:solidFill>
              </a:rPr>
              <a:t>Search traces for slow requests.</a:t>
            </a:r>
            <a:endParaRPr lang="en-US" sz="1400" dirty="0"/>
          </a:p>
        </p:txBody>
      </p:sp>
      <p:sp>
        <p:nvSpPr>
          <p:cNvPr id="12" name="Without exemplars step 3"/>
          <p:cNvSpPr/>
          <p:nvPr/>
        </p:nvSpPr>
        <p:spPr>
          <a:xfrm>
            <a:off x="5212080" y="1463040"/>
            <a:ext cx="1600200" cy="1417320"/>
          </a:xfrm>
          <a:prstGeom prst="roundRect">
            <a:avLst>
              <a:gd name="adj" fmla="val 5161"/>
            </a:avLst>
          </a:prstGeom>
          <a:solidFill>
            <a:schemeClr val="bg2"/>
          </a:solidFill>
          <a:ln/>
          <a:effectLst>
            <a:outerShdw sx="100000" sy="100000" kx="0" ky="0" algn="bl" rotWithShape="0" blurRad="76200" dist="25400" dir="5400000">
              <a:srgbClr val="000000">
                <a:alpha val="12000"/>
              </a:srgbClr>
            </a:outerShdw>
          </a:effectLst>
        </p:spPr>
      </p:sp>
      <p:sp>
        <p:nvSpPr>
          <p:cNvPr id="13" name="Step 3"/>
          <p:cNvSpPr txBox="1"/>
          <p:nvPr/>
        </p:nvSpPr>
        <p:spPr>
          <a:xfrm>
            <a:off x="5321808" y="1572768"/>
            <a:ext cx="292608" cy="29260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1"/>
          <p:cNvSpPr txBox="1"/>
          <p:nvPr/>
        </p:nvSpPr>
        <p:spPr>
          <a:xfrm>
            <a:off x="5321808" y="1938528"/>
            <a:ext cx="1380744" cy="914400"/>
          </a:xfrm>
          <a:prstGeom prst="rect">
            <a:avLst/>
          </a:prstGeom>
          <a:noFill/>
          <a:ln/>
        </p:spPr>
        <p:txBody>
          <a:bodyPr wrap="square" lIns="0" tIns="0" rIns="0" bIns="0" rtlCol="0" anchor="t"/>
          <a:lstStyle/>
          <a:p>
            <a:pPr indent="0" marL="0">
              <a:buNone/>
            </a:pPr>
            <a:r>
              <a:rPr lang="en-US" sz="1400" dirty="0">
                <a:solidFill>
                  <a:schemeClr val="tx1"/>
                </a:solidFill>
              </a:rPr>
              <a:t>Compare a fast trace with a slow one.</a:t>
            </a:r>
            <a:endParaRPr lang="en-US" sz="1400" dirty="0"/>
          </a:p>
        </p:txBody>
      </p:sp>
      <p:sp>
        <p:nvSpPr>
          <p:cNvPr id="15" name="Without exemplars step 4"/>
          <p:cNvSpPr/>
          <p:nvPr/>
        </p:nvSpPr>
        <p:spPr>
          <a:xfrm>
            <a:off x="6949440" y="1463040"/>
            <a:ext cx="1600200" cy="1417320"/>
          </a:xfrm>
          <a:prstGeom prst="roundRect">
            <a:avLst>
              <a:gd name="adj" fmla="val 5161"/>
            </a:avLst>
          </a:prstGeom>
          <a:solidFill>
            <a:schemeClr val="bg2"/>
          </a:solidFill>
          <a:ln/>
          <a:effectLst>
            <a:outerShdw sx="100000" sy="100000" kx="0" ky="0" algn="bl" rotWithShape="0" blurRad="76200" dist="25400" dir="5400000">
              <a:srgbClr val="000000">
                <a:alpha val="12000"/>
              </a:srgbClr>
            </a:outerShdw>
          </a:effectLst>
        </p:spPr>
      </p:sp>
      <p:sp>
        <p:nvSpPr>
          <p:cNvPr id="16" name="Step 4"/>
          <p:cNvSpPr txBox="1"/>
          <p:nvPr/>
        </p:nvSpPr>
        <p:spPr>
          <a:xfrm>
            <a:off x="7059168" y="1572768"/>
            <a:ext cx="292608" cy="29260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4"/>
          <p:cNvSpPr txBox="1"/>
          <p:nvPr/>
        </p:nvSpPr>
        <p:spPr>
          <a:xfrm>
            <a:off x="7059168" y="1938528"/>
            <a:ext cx="1380744" cy="914400"/>
          </a:xfrm>
          <a:prstGeom prst="rect">
            <a:avLst/>
          </a:prstGeom>
          <a:noFill/>
          <a:ln/>
        </p:spPr>
        <p:txBody>
          <a:bodyPr wrap="square" lIns="0" tIns="0" rIns="0" bIns="0" rtlCol="0" anchor="t"/>
          <a:lstStyle/>
          <a:p>
            <a:pPr indent="0" marL="0">
              <a:buNone/>
            </a:pPr>
            <a:r>
              <a:rPr lang="en-US" sz="1400" dirty="0">
                <a:solidFill>
                  <a:schemeClr val="tx1"/>
                </a:solidFill>
              </a:rPr>
              <a:t>Still unsure the trace is typical.</a:t>
            </a:r>
            <a:endParaRPr lang="en-US" sz="1400" dirty="0"/>
          </a:p>
        </p:txBody>
      </p:sp>
      <p:sp>
        <p:nvSpPr>
          <p:cNvPr id="18" name="Text 15"/>
          <p:cNvSpPr txBox="1"/>
          <p:nvPr/>
        </p:nvSpPr>
        <p:spPr>
          <a:xfrm>
            <a:off x="457200" y="3108960"/>
            <a:ext cx="1188720" cy="822960"/>
          </a:xfrm>
          <a:prstGeom prst="rect">
            <a:avLst/>
          </a:prstGeom>
          <a:noFill/>
          <a:ln/>
        </p:spPr>
        <p:txBody>
          <a:bodyPr wrap="square" lIns="0" tIns="0" rIns="0" bIns="0" rtlCol="0" anchor="t"/>
          <a:lstStyle/>
          <a:p>
            <a:pPr indent="0" marL="0">
              <a:buNone/>
            </a:pPr>
            <a:r>
              <a:rPr lang="en-US" sz="1600" b="1" dirty="0">
                <a:solidFill>
                  <a:schemeClr val="accent3"/>
                </a:solidFill>
                <a:latin typeface="Cambria" pitchFamily="34" charset="0"/>
                <a:ea typeface="Cambria" pitchFamily="34" charset="-122"/>
                <a:cs typeface="Cambria" pitchFamily="34" charset="-120"/>
              </a:rPr>
              <a:t>With exemplars</a:t>
            </a:r>
            <a:endParaRPr lang="en-US" sz="1600" dirty="0"/>
          </a:p>
        </p:txBody>
      </p:sp>
      <p:sp>
        <p:nvSpPr>
          <p:cNvPr id="19" name="With exemplars step 1"/>
          <p:cNvSpPr/>
          <p:nvPr/>
        </p:nvSpPr>
        <p:spPr>
          <a:xfrm>
            <a:off x="1737360" y="3017520"/>
            <a:ext cx="1600200" cy="1417320"/>
          </a:xfrm>
          <a:prstGeom prst="roundRect">
            <a:avLst>
              <a:gd name="adj" fmla="val 5161"/>
            </a:avLst>
          </a:prstGeom>
          <a:solidFill>
            <a:schemeClr val="bg2"/>
          </a:solidFill>
          <a:ln/>
          <a:effectLst>
            <a:outerShdw sx="100000" sy="100000" kx="0" ky="0" algn="bl" rotWithShape="0" blurRad="76200" dist="25400" dir="5400000">
              <a:srgbClr val="000000">
                <a:alpha val="12000"/>
              </a:srgbClr>
            </a:outerShdw>
          </a:effectLst>
        </p:spPr>
      </p:sp>
      <p:sp>
        <p:nvSpPr>
          <p:cNvPr id="20" name="Step 1"/>
          <p:cNvSpPr txBox="1"/>
          <p:nvPr/>
        </p:nvSpPr>
        <p:spPr>
          <a:xfrm>
            <a:off x="1847088" y="3127248"/>
            <a:ext cx="292608" cy="292608"/>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 18"/>
          <p:cNvSpPr txBox="1"/>
          <p:nvPr/>
        </p:nvSpPr>
        <p:spPr>
          <a:xfrm>
            <a:off x="1847088" y="3493008"/>
            <a:ext cx="1380744" cy="914400"/>
          </a:xfrm>
          <a:prstGeom prst="rect">
            <a:avLst/>
          </a:prstGeom>
          <a:noFill/>
          <a:ln/>
        </p:spPr>
        <p:txBody>
          <a:bodyPr wrap="square" lIns="0" tIns="0" rIns="0" bIns="0" rtlCol="0" anchor="t"/>
          <a:lstStyle/>
          <a:p>
            <a:pPr indent="0" marL="0">
              <a:buNone/>
            </a:pPr>
            <a:r>
              <a:rPr lang="en-US" sz="1400" dirty="0">
                <a:solidFill>
                  <a:schemeClr val="tx1"/>
                </a:solidFill>
              </a:rPr>
              <a:t>Same graph, now with diamonds on it.</a:t>
            </a:r>
            <a:endParaRPr lang="en-US" sz="1400" dirty="0"/>
          </a:p>
        </p:txBody>
      </p:sp>
      <p:sp>
        <p:nvSpPr>
          <p:cNvPr id="22" name="With exemplars step 2"/>
          <p:cNvSpPr/>
          <p:nvPr/>
        </p:nvSpPr>
        <p:spPr>
          <a:xfrm>
            <a:off x="3474720" y="3017520"/>
            <a:ext cx="1600200" cy="1417320"/>
          </a:xfrm>
          <a:prstGeom prst="roundRect">
            <a:avLst>
              <a:gd name="adj" fmla="val 5161"/>
            </a:avLst>
          </a:prstGeom>
          <a:solidFill>
            <a:schemeClr val="bg2"/>
          </a:solidFill>
          <a:ln/>
          <a:effectLst>
            <a:outerShdw sx="100000" sy="100000" kx="0" ky="0" algn="bl" rotWithShape="0" blurRad="76200" dist="25400" dir="5400000">
              <a:srgbClr val="000000">
                <a:alpha val="12000"/>
              </a:srgbClr>
            </a:outerShdw>
          </a:effectLst>
        </p:spPr>
      </p:sp>
      <p:sp>
        <p:nvSpPr>
          <p:cNvPr id="23" name="Step 2"/>
          <p:cNvSpPr txBox="1"/>
          <p:nvPr/>
        </p:nvSpPr>
        <p:spPr>
          <a:xfrm>
            <a:off x="3584448" y="3127248"/>
            <a:ext cx="292608" cy="292608"/>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4" name="Text 21"/>
          <p:cNvSpPr txBox="1"/>
          <p:nvPr/>
        </p:nvSpPr>
        <p:spPr>
          <a:xfrm>
            <a:off x="3584448" y="3493008"/>
            <a:ext cx="1380744" cy="914400"/>
          </a:xfrm>
          <a:prstGeom prst="rect">
            <a:avLst/>
          </a:prstGeom>
          <a:noFill/>
          <a:ln/>
        </p:spPr>
        <p:txBody>
          <a:bodyPr wrap="square" lIns="0" tIns="0" rIns="0" bIns="0" rtlCol="0" anchor="t"/>
          <a:lstStyle/>
          <a:p>
            <a:pPr indent="0" marL="0">
              <a:buNone/>
            </a:pPr>
            <a:r>
              <a:rPr lang="en-US" sz="1400" dirty="0">
                <a:solidFill>
                  <a:schemeClr val="tx1"/>
                </a:solidFill>
              </a:rPr>
              <a:t>Hover a diamond near the spike. See its trace ID.</a:t>
            </a:r>
            <a:endParaRPr lang="en-US" sz="1400" dirty="0"/>
          </a:p>
        </p:txBody>
      </p:sp>
      <p:sp>
        <p:nvSpPr>
          <p:cNvPr id="25" name="With exemplars step 3"/>
          <p:cNvSpPr/>
          <p:nvPr/>
        </p:nvSpPr>
        <p:spPr>
          <a:xfrm>
            <a:off x="5212080" y="3017520"/>
            <a:ext cx="1600200" cy="1417320"/>
          </a:xfrm>
          <a:prstGeom prst="roundRect">
            <a:avLst>
              <a:gd name="adj" fmla="val 5161"/>
            </a:avLst>
          </a:prstGeom>
          <a:solidFill>
            <a:schemeClr val="bg2"/>
          </a:solidFill>
          <a:ln/>
          <a:effectLst>
            <a:outerShdw sx="100000" sy="100000" kx="0" ky="0" algn="bl" rotWithShape="0" blurRad="76200" dist="25400" dir="5400000">
              <a:srgbClr val="000000">
                <a:alpha val="12000"/>
              </a:srgbClr>
            </a:outerShdw>
          </a:effectLst>
        </p:spPr>
      </p:sp>
      <p:sp>
        <p:nvSpPr>
          <p:cNvPr id="26" name="Step 3"/>
          <p:cNvSpPr txBox="1"/>
          <p:nvPr/>
        </p:nvSpPr>
        <p:spPr>
          <a:xfrm>
            <a:off x="5321808" y="3127248"/>
            <a:ext cx="292608" cy="292608"/>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7" name="Text 24"/>
          <p:cNvSpPr txBox="1"/>
          <p:nvPr/>
        </p:nvSpPr>
        <p:spPr>
          <a:xfrm>
            <a:off x="5321808" y="3493008"/>
            <a:ext cx="1380744" cy="914400"/>
          </a:xfrm>
          <a:prstGeom prst="rect">
            <a:avLst/>
          </a:prstGeom>
          <a:noFill/>
          <a:ln/>
        </p:spPr>
        <p:txBody>
          <a:bodyPr wrap="square" lIns="0" tIns="0" rIns="0" bIns="0" rtlCol="0" anchor="t"/>
          <a:lstStyle/>
          <a:p>
            <a:pPr indent="0" marL="0">
              <a:buNone/>
            </a:pPr>
            <a:r>
              <a:rPr lang="en-US" sz="1400" dirty="0">
                <a:solidFill>
                  <a:schemeClr val="tx1"/>
                </a:solidFill>
              </a:rPr>
              <a:t>Click Query with Tempo. The trace opens beside the graph.</a:t>
            </a:r>
            <a:endParaRPr lang="en-US" sz="1400" dirty="0"/>
          </a:p>
        </p:txBody>
      </p:sp>
      <p:sp>
        <p:nvSpPr>
          <p:cNvPr id="28" name="With exemplars step 4"/>
          <p:cNvSpPr/>
          <p:nvPr/>
        </p:nvSpPr>
        <p:spPr>
          <a:xfrm>
            <a:off x="6949440" y="3017520"/>
            <a:ext cx="1600200" cy="1417320"/>
          </a:xfrm>
          <a:prstGeom prst="roundRect">
            <a:avLst>
              <a:gd name="adj" fmla="val 5161"/>
            </a:avLst>
          </a:prstGeom>
          <a:solidFill>
            <a:schemeClr val="bg2"/>
          </a:solidFill>
          <a:ln/>
          <a:effectLst>
            <a:outerShdw sx="100000" sy="100000" kx="0" ky="0" algn="bl" rotWithShape="0" blurRad="76200" dist="25400" dir="5400000">
              <a:srgbClr val="000000">
                <a:alpha val="12000"/>
              </a:srgbClr>
            </a:outerShdw>
          </a:effectLst>
        </p:spPr>
      </p:sp>
      <p:sp>
        <p:nvSpPr>
          <p:cNvPr id="29" name="Step 4"/>
          <p:cNvSpPr txBox="1"/>
          <p:nvPr/>
        </p:nvSpPr>
        <p:spPr>
          <a:xfrm>
            <a:off x="7059168" y="3127248"/>
            <a:ext cx="292608" cy="292608"/>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0" name="Text 27"/>
          <p:cNvSpPr txBox="1"/>
          <p:nvPr/>
        </p:nvSpPr>
        <p:spPr>
          <a:xfrm>
            <a:off x="7059168" y="3493008"/>
            <a:ext cx="1380744" cy="914400"/>
          </a:xfrm>
          <a:prstGeom prst="rect">
            <a:avLst/>
          </a:prstGeom>
          <a:noFill/>
          <a:ln/>
        </p:spPr>
        <p:txBody>
          <a:bodyPr wrap="square" lIns="0" tIns="0" rIns="0" bIns="0" rtlCol="0" anchor="t"/>
          <a:lstStyle/>
          <a:p>
            <a:pPr indent="0" marL="0">
              <a:buNone/>
            </a:pPr>
            <a:r>
              <a:rPr lang="en-US" sz="1400" dirty="0">
                <a:solidFill>
                  <a:schemeClr val="tx1"/>
                </a:solidFill>
              </a:rPr>
              <a:t>Read which step took the time.</a:t>
            </a:r>
            <a:endParaRPr lang="en-US" sz="1400" dirty="0"/>
          </a:p>
        </p:txBody>
      </p:sp>
      <p:sp>
        <p:nvSpPr>
          <p:cNvPr id="31" name="Source note"/>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chemeClr val="tx2"/>
                </a:solidFill>
              </a:rPr>
              <a:t>Sources: Grafana docs, fundamentals/exemplars and datasources/prometheus. The story itself is illustrative.</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What the evidence says</a:t>
            </a:r>
            <a:endParaRPr lang="en-US" sz="3400" dirty="0"/>
          </a:p>
        </p:txBody>
      </p:sp>
      <p:sp>
        <p:nvSpPr>
          <p:cNvPr id="4" name="Quote card 1"/>
          <p:cNvSpPr/>
          <p:nvPr/>
        </p:nvSpPr>
        <p:spPr>
          <a:xfrm>
            <a:off x="457200" y="1188720"/>
            <a:ext cx="5120640" cy="1051560"/>
          </a:xfrm>
          <a:prstGeom prst="roundRect">
            <a:avLst>
              <a:gd name="adj" fmla="val 6957"/>
            </a:avLst>
          </a:prstGeom>
          <a:solidFill>
            <a:schemeClr val="bg2"/>
          </a:solidFill>
          <a:ln/>
          <a:effectLst>
            <a:outerShdw sx="100000" sy="100000" kx="0" ky="0" algn="bl" rotWithShape="0" blurRad="76200" dist="25400" dir="5400000">
              <a:srgbClr val="000000">
                <a:alpha val="12000"/>
              </a:srgbClr>
            </a:outerShdw>
          </a:effectLst>
        </p:spPr>
      </p:sp>
      <p:sp>
        <p:nvSpPr>
          <p:cNvPr id="5" name="Exemplar diamond"/>
          <p:cNvSpPr/>
          <p:nvPr/>
        </p:nvSpPr>
        <p:spPr>
          <a:xfrm>
            <a:off x="621792" y="1371600"/>
            <a:ext cx="182880" cy="182880"/>
          </a:xfrm>
          <a:prstGeom prst="diamond">
            <a:avLst/>
          </a:prstGeom>
          <a:solidFill>
            <a:schemeClr val="accent1"/>
          </a:solidFill>
          <a:ln/>
        </p:spPr>
      </p:sp>
      <p:sp>
        <p:nvSpPr>
          <p:cNvPr id="6" name="Text 3"/>
          <p:cNvSpPr txBox="1"/>
          <p:nvPr/>
        </p:nvSpPr>
        <p:spPr>
          <a:xfrm>
            <a:off x="914400" y="1280160"/>
            <a:ext cx="4526280" cy="640080"/>
          </a:xfrm>
          <a:prstGeom prst="rect">
            <a:avLst/>
          </a:prstGeom>
          <a:noFill/>
          <a:ln/>
        </p:spPr>
        <p:txBody>
          <a:bodyPr wrap="square" lIns="0" tIns="0" rIns="0" bIns="0" rtlCol="0" anchor="t"/>
          <a:lstStyle/>
          <a:p>
            <a:pPr indent="0" marL="0">
              <a:buNone/>
            </a:pPr>
            <a:r>
              <a:rPr lang="en-US" sz="1300" i="1" dirty="0">
                <a:solidFill>
                  <a:schemeClr val="tx1"/>
                </a:solidFill>
              </a:rPr>
              <a:t>“Use exemplars to help isolate problems within your data distribution by pinpointing query traces exhibiting high latency within a time interval.”</a:t>
            </a:r>
            <a:endParaRPr lang="en-US" sz="1300" dirty="0"/>
          </a:p>
        </p:txBody>
      </p:sp>
      <p:sp>
        <p:nvSpPr>
          <p:cNvPr id="7" name="Text 4"/>
          <p:cNvSpPr txBox="1"/>
          <p:nvPr/>
        </p:nvSpPr>
        <p:spPr>
          <a:xfrm>
            <a:off x="914400" y="1965960"/>
            <a:ext cx="4526280" cy="228600"/>
          </a:xfrm>
          <a:prstGeom prst="rect">
            <a:avLst/>
          </a:prstGeom>
          <a:noFill/>
          <a:ln/>
        </p:spPr>
        <p:txBody>
          <a:bodyPr wrap="square" lIns="0" tIns="0" rIns="0" bIns="0" rtlCol="0" anchor="t"/>
          <a:lstStyle/>
          <a:p>
            <a:pPr indent="0" marL="0">
              <a:buNone/>
            </a:pPr>
            <a:r>
              <a:rPr lang="en-US" sz="1100" b="1" dirty="0">
                <a:solidFill>
                  <a:schemeClr val="accent2"/>
                </a:solidFill>
              </a:rPr>
              <a:t>Grafana docs, Introduction to exemplars</a:t>
            </a:r>
            <a:endParaRPr lang="en-US" sz="1100" dirty="0"/>
          </a:p>
        </p:txBody>
      </p:sp>
      <p:sp>
        <p:nvSpPr>
          <p:cNvPr id="8" name="Quote card 2"/>
          <p:cNvSpPr/>
          <p:nvPr/>
        </p:nvSpPr>
        <p:spPr>
          <a:xfrm>
            <a:off x="457200" y="2377440"/>
            <a:ext cx="5120640" cy="1051560"/>
          </a:xfrm>
          <a:prstGeom prst="roundRect">
            <a:avLst>
              <a:gd name="adj" fmla="val 6957"/>
            </a:avLst>
          </a:prstGeom>
          <a:solidFill>
            <a:schemeClr val="bg2"/>
          </a:solidFill>
          <a:ln/>
          <a:effectLst>
            <a:outerShdw sx="100000" sy="100000" kx="0" ky="0" algn="bl" rotWithShape="0" blurRad="76200" dist="25400" dir="5400000">
              <a:srgbClr val="000000">
                <a:alpha val="12000"/>
              </a:srgbClr>
            </a:outerShdw>
          </a:effectLst>
        </p:spPr>
      </p:sp>
      <p:sp>
        <p:nvSpPr>
          <p:cNvPr id="9" name="Exemplar diamond"/>
          <p:cNvSpPr/>
          <p:nvPr/>
        </p:nvSpPr>
        <p:spPr>
          <a:xfrm>
            <a:off x="621792" y="2560320"/>
            <a:ext cx="182880" cy="182880"/>
          </a:xfrm>
          <a:prstGeom prst="diamond">
            <a:avLst/>
          </a:prstGeom>
          <a:solidFill>
            <a:schemeClr val="accent1"/>
          </a:solidFill>
          <a:ln/>
        </p:spPr>
      </p:sp>
      <p:sp>
        <p:nvSpPr>
          <p:cNvPr id="10" name="Text 7"/>
          <p:cNvSpPr txBox="1"/>
          <p:nvPr/>
        </p:nvSpPr>
        <p:spPr>
          <a:xfrm>
            <a:off x="914400" y="2468880"/>
            <a:ext cx="4526280" cy="640080"/>
          </a:xfrm>
          <a:prstGeom prst="rect">
            <a:avLst/>
          </a:prstGeom>
          <a:noFill/>
          <a:ln/>
        </p:spPr>
        <p:txBody>
          <a:bodyPr wrap="square" lIns="0" tIns="0" rIns="0" bIns="0" rtlCol="0" anchor="t"/>
          <a:lstStyle/>
          <a:p>
            <a:pPr indent="0" marL="0">
              <a:buNone/>
            </a:pPr>
            <a:r>
              <a:rPr lang="en-US" sz="1300" i="1" dirty="0">
                <a:solidFill>
                  <a:schemeClr val="tx1"/>
                </a:solidFill>
              </a:rPr>
              <a:t>“Studying the plot, I see that my p99 latency is periodically spiking.” ... “What's going on with these slow requests?”</a:t>
            </a:r>
            <a:endParaRPr lang="en-US" sz="1300" dirty="0"/>
          </a:p>
        </p:txBody>
      </p:sp>
      <p:sp>
        <p:nvSpPr>
          <p:cNvPr id="11" name="Text 8"/>
          <p:cNvSpPr txBox="1"/>
          <p:nvPr/>
        </p:nvSpPr>
        <p:spPr>
          <a:xfrm>
            <a:off x="914400" y="3154680"/>
            <a:ext cx="4526280" cy="228600"/>
          </a:xfrm>
          <a:prstGeom prst="rect">
            <a:avLst/>
          </a:prstGeom>
          <a:noFill/>
          <a:ln/>
        </p:spPr>
        <p:txBody>
          <a:bodyPr wrap="square" lIns="0" tIns="0" rIns="0" bIns="0" rtlCol="0" anchor="t"/>
          <a:lstStyle/>
          <a:p>
            <a:pPr indent="0" marL="0">
              <a:buNone/>
            </a:pPr>
            <a:r>
              <a:rPr lang="en-US" sz="1100" b="1" dirty="0">
                <a:solidFill>
                  <a:schemeClr val="accent2"/>
                </a:solidFill>
              </a:rPr>
              <a:t>Jen Villa, Grafana Cloud exemplar launch post, 2022</a:t>
            </a:r>
            <a:endParaRPr lang="en-US" sz="1100" dirty="0"/>
          </a:p>
        </p:txBody>
      </p:sp>
      <p:sp>
        <p:nvSpPr>
          <p:cNvPr id="12" name="Quote card 3"/>
          <p:cNvSpPr/>
          <p:nvPr/>
        </p:nvSpPr>
        <p:spPr>
          <a:xfrm>
            <a:off x="457200" y="3566160"/>
            <a:ext cx="5120640" cy="1051560"/>
          </a:xfrm>
          <a:prstGeom prst="roundRect">
            <a:avLst>
              <a:gd name="adj" fmla="val 6957"/>
            </a:avLst>
          </a:prstGeom>
          <a:solidFill>
            <a:schemeClr val="bg2"/>
          </a:solidFill>
          <a:ln/>
          <a:effectLst>
            <a:outerShdw sx="100000" sy="100000" kx="0" ky="0" algn="bl" rotWithShape="0" blurRad="76200" dist="25400" dir="5400000">
              <a:srgbClr val="000000">
                <a:alpha val="12000"/>
              </a:srgbClr>
            </a:outerShdw>
          </a:effectLst>
        </p:spPr>
      </p:sp>
      <p:sp>
        <p:nvSpPr>
          <p:cNvPr id="13" name="Exemplar diamond"/>
          <p:cNvSpPr/>
          <p:nvPr/>
        </p:nvSpPr>
        <p:spPr>
          <a:xfrm>
            <a:off x="621792" y="3749040"/>
            <a:ext cx="182880" cy="182880"/>
          </a:xfrm>
          <a:prstGeom prst="diamond">
            <a:avLst/>
          </a:prstGeom>
          <a:solidFill>
            <a:schemeClr val="accent1"/>
          </a:solidFill>
          <a:ln/>
        </p:spPr>
      </p:sp>
      <p:sp>
        <p:nvSpPr>
          <p:cNvPr id="14" name="Text 11"/>
          <p:cNvSpPr txBox="1"/>
          <p:nvPr/>
        </p:nvSpPr>
        <p:spPr>
          <a:xfrm>
            <a:off x="914400" y="3657600"/>
            <a:ext cx="4526280" cy="640080"/>
          </a:xfrm>
          <a:prstGeom prst="rect">
            <a:avLst/>
          </a:prstGeom>
          <a:noFill/>
          <a:ln/>
        </p:spPr>
        <p:txBody>
          <a:bodyPr wrap="square" lIns="0" tIns="0" rIns="0" bIns="0" rtlCol="0" anchor="t"/>
          <a:lstStyle/>
          <a:p>
            <a:pPr indent="0" marL="0">
              <a:buNone/>
            </a:pPr>
            <a:r>
              <a:rPr lang="en-US" sz="1300" i="1" dirty="0">
                <a:solidFill>
                  <a:schemeClr val="tx1"/>
                </a:solidFill>
              </a:rPr>
              <a:t>“They make it easy to jump from metrics into exactly the right traces, eliminating the needle in the haystack problem.”</a:t>
            </a:r>
            <a:endParaRPr lang="en-US" sz="1300" dirty="0"/>
          </a:p>
        </p:txBody>
      </p:sp>
      <p:sp>
        <p:nvSpPr>
          <p:cNvPr id="15" name="Text 12"/>
          <p:cNvSpPr txBox="1"/>
          <p:nvPr/>
        </p:nvSpPr>
        <p:spPr>
          <a:xfrm>
            <a:off x="914400" y="4343400"/>
            <a:ext cx="4526280" cy="228600"/>
          </a:xfrm>
          <a:prstGeom prst="rect">
            <a:avLst/>
          </a:prstGeom>
          <a:noFill/>
          <a:ln/>
        </p:spPr>
        <p:txBody>
          <a:bodyPr wrap="square" lIns="0" tIns="0" rIns="0" bIns="0" rtlCol="0" anchor="t"/>
          <a:lstStyle/>
          <a:p>
            <a:pPr indent="0" marL="0">
              <a:buNone/>
            </a:pPr>
            <a:r>
              <a:rPr lang="en-US" sz="1100" b="1" dirty="0">
                <a:solidFill>
                  <a:schemeClr val="accent2"/>
                </a:solidFill>
              </a:rPr>
              <a:t>Same post. A vendor claim, not a measurement</a:t>
            </a:r>
            <a:endParaRPr lang="en-US" sz="1100" dirty="0"/>
          </a:p>
        </p:txBody>
      </p:sp>
      <p:sp>
        <p:nvSpPr>
          <p:cNvPr id="16" name="Gap callout"/>
          <p:cNvSpPr/>
          <p:nvPr/>
        </p:nvSpPr>
        <p:spPr>
          <a:xfrm>
            <a:off x="5852160" y="1188720"/>
            <a:ext cx="2834640" cy="3429000"/>
          </a:xfrm>
          <a:prstGeom prst="roundRect">
            <a:avLst>
              <a:gd name="adj" fmla="val 3226"/>
            </a:avLst>
          </a:prstGeom>
          <a:solidFill>
            <a:schemeClr val="tx1"/>
          </a:solidFill>
          <a:ln/>
          <a:effectLst>
            <a:outerShdw sx="100000" sy="100000" kx="0" ky="0" algn="bl" rotWithShape="0" blurRad="76200" dist="25400" dir="5400000">
              <a:srgbClr val="000000">
                <a:alpha val="12000"/>
              </a:srgbClr>
            </a:outerShdw>
          </a:effectLst>
        </p:spPr>
      </p:sp>
      <p:sp>
        <p:nvSpPr>
          <p:cNvPr id="17" name="Text 14"/>
          <p:cNvSpPr txBox="1"/>
          <p:nvPr/>
        </p:nvSpPr>
        <p:spPr>
          <a:xfrm>
            <a:off x="6080760" y="1417320"/>
            <a:ext cx="2377440" cy="45720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What we did not find</a:t>
            </a:r>
            <a:endParaRPr lang="en-US" sz="1800" dirty="0"/>
          </a:p>
        </p:txBody>
      </p:sp>
      <p:sp>
        <p:nvSpPr>
          <p:cNvPr id="18" name="Text 15"/>
          <p:cNvSpPr txBox="1"/>
          <p:nvPr/>
        </p:nvSpPr>
        <p:spPr>
          <a:xfrm>
            <a:off x="6080760" y="2011680"/>
            <a:ext cx="2377440" cy="1463040"/>
          </a:xfrm>
          <a:prstGeom prst="rect">
            <a:avLst/>
          </a:prstGeom>
          <a:noFill/>
          <a:ln/>
        </p:spPr>
        <p:txBody>
          <a:bodyPr wrap="square" lIns="0" tIns="0" rIns="0" bIns="0" rtlCol="0" anchor="t"/>
          <a:lstStyle/>
          <a:p>
            <a:pPr indent="0" marL="0">
              <a:buNone/>
            </a:pPr>
            <a:r>
              <a:rPr lang="en-US" sz="1600" dirty="0">
                <a:solidFill>
                  <a:schemeClr val="bg1"/>
                </a:solidFill>
              </a:rPr>
              <a:t>No published measurement of time saved or MTTR reduction that comes from exemplars.</a:t>
            </a:r>
            <a:endParaRPr lang="en-US" sz="1600" dirty="0"/>
          </a:p>
        </p:txBody>
      </p:sp>
      <p:sp>
        <p:nvSpPr>
          <p:cNvPr id="19" name="Text 16"/>
          <p:cNvSpPr txBox="1"/>
          <p:nvPr/>
        </p:nvSpPr>
        <p:spPr>
          <a:xfrm>
            <a:off x="6080760" y="3520440"/>
            <a:ext cx="2377440" cy="914400"/>
          </a:xfrm>
          <a:prstGeom prst="rect">
            <a:avLst/>
          </a:prstGeom>
          <a:noFill/>
          <a:ln/>
        </p:spPr>
        <p:txBody>
          <a:bodyPr wrap="square" lIns="0" tIns="0" rIns="0" bIns="0" rtlCol="0" anchor="t"/>
          <a:lstStyle/>
          <a:p>
            <a:pPr indent="0" marL="0">
              <a:buNone/>
            </a:pPr>
            <a:r>
              <a:rPr lang="en-US" sz="1400" dirty="0">
                <a:solidFill>
                  <a:schemeClr val="bg2"/>
                </a:solidFill>
              </a:rPr>
              <a:t>Treat the value claims as design intent, not proven return on investment.</a:t>
            </a:r>
            <a:endParaRPr lang="en-US" sz="1400" dirty="0"/>
          </a:p>
        </p:txBody>
      </p:sp>
      <p:sp>
        <p:nvSpPr>
          <p:cNvPr id="20" name="Source note"/>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chemeClr val="tx2"/>
                </a:solidFill>
              </a:rPr>
              <a:t>Sources: grafana.com/blog/2022/02/23/introducing-exemplar-support-in-grafana-cloud-tightly-coupling-traces-to-your-metrics and the Grafana docs page.</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What people see and click</a:t>
            </a:r>
            <a:endParaRPr lang="en-US" sz="3400" dirty="0"/>
          </a:p>
        </p:txBody>
      </p:sp>
      <p:sp>
        <p:nvSpPr>
          <p:cNvPr id="4" name="Graph card"/>
          <p:cNvSpPr/>
          <p:nvPr/>
        </p:nvSpPr>
        <p:spPr>
          <a:xfrm>
            <a:off x="457200" y="1188720"/>
            <a:ext cx="4480560" cy="3017520"/>
          </a:xfrm>
          <a:prstGeom prst="roundRect">
            <a:avLst>
              <a:gd name="adj" fmla="val 2424"/>
            </a:avLst>
          </a:prstGeom>
          <a:solidFill>
            <a:schemeClr val="bg2"/>
          </a:solidFill>
          <a:ln/>
          <a:effectLst>
            <a:outerShdw sx="100000" sy="100000" kx="0" ky="0" algn="bl" rotWithShape="0" blurRad="76200" dist="25400" dir="5400000">
              <a:srgbClr val="000000">
                <a:alpha val="12000"/>
              </a:srgbClr>
            </a:outerShdw>
          </a:effectLst>
        </p:spPr>
      </p:sp>
      <p:sp>
        <p:nvSpPr>
          <p:cNvPr id="5" name="Axis"/>
          <p:cNvSpPr/>
          <p:nvPr/>
        </p:nvSpPr>
        <p:spPr>
          <a:xfrm>
            <a:off x="685800" y="3749040"/>
            <a:ext cx="4023360" cy="0"/>
          </a:xfrm>
          <a:prstGeom prst="line">
            <a:avLst/>
          </a:prstGeom>
          <a:noFill/>
          <a:ln w="12700">
            <a:solidFill>
              <a:schemeClr val="accent5"/>
            </a:solidFill>
            <a:prstDash val="solid"/>
          </a:ln>
        </p:spPr>
      </p:sp>
      <p:sp>
        <p:nvSpPr>
          <p:cNvPr id="6" name="Series line"/>
          <p:cNvSpPr/>
          <p:nvPr/>
        </p:nvSpPr>
        <p:spPr>
          <a:xfrm>
            <a:off x="685800" y="1508760"/>
            <a:ext cx="4023360" cy="2240280"/>
          </a:xfrm>
          <a:custGeom>
            <a:avLst/>
            <a:gdLst/>
            <a:ahLst/>
            <a:cxnLst/>
            <a:rect l="l" t="t" r="r" b="b"/>
            <a:pathLst>
              <a:path w="4023360" h="2240280">
                <a:moveTo>
                  <a:pt x="0" y="1613002"/>
                </a:moveTo>
                <a:lnTo>
                  <a:pt x="563270" y="1478585"/>
                </a:lnTo>
                <a:lnTo>
                  <a:pt x="1126541" y="1568196"/>
                </a:lnTo>
                <a:lnTo>
                  <a:pt x="1689811" y="1344168"/>
                </a:lnTo>
                <a:lnTo>
                  <a:pt x="2172614" y="1433779"/>
                </a:lnTo>
                <a:lnTo>
                  <a:pt x="2574950" y="268834"/>
                </a:lnTo>
                <a:lnTo>
                  <a:pt x="2977286" y="1232154"/>
                </a:lnTo>
                <a:lnTo>
                  <a:pt x="3460090" y="1388974"/>
                </a:lnTo>
                <a:lnTo>
                  <a:pt x="4023360" y="1299362"/>
                </a:lnTo>
              </a:path>
            </a:pathLst>
          </a:custGeom>
          <a:ln w="38100">
            <a:solidFill>
              <a:schemeClr val="accent2"/>
            </a:solidFill>
            <a:prstDash val="solid"/>
          </a:ln>
        </p:spPr>
      </p:sp>
      <p:sp>
        <p:nvSpPr>
          <p:cNvPr id="7" name="Exemplar diamond"/>
          <p:cNvSpPr/>
          <p:nvPr/>
        </p:nvSpPr>
        <p:spPr>
          <a:xfrm>
            <a:off x="1148486" y="2886761"/>
            <a:ext cx="201168" cy="201168"/>
          </a:xfrm>
          <a:prstGeom prst="diamond">
            <a:avLst/>
          </a:prstGeom>
          <a:solidFill>
            <a:schemeClr val="accent1"/>
          </a:solidFill>
          <a:ln/>
        </p:spPr>
      </p:sp>
      <p:sp>
        <p:nvSpPr>
          <p:cNvPr id="8" name="Exemplar diamond"/>
          <p:cNvSpPr/>
          <p:nvPr/>
        </p:nvSpPr>
        <p:spPr>
          <a:xfrm>
            <a:off x="2275027" y="2752344"/>
            <a:ext cx="201168" cy="201168"/>
          </a:xfrm>
          <a:prstGeom prst="diamond">
            <a:avLst/>
          </a:prstGeom>
          <a:solidFill>
            <a:schemeClr val="accent1"/>
          </a:solidFill>
          <a:ln/>
        </p:spPr>
      </p:sp>
      <p:sp>
        <p:nvSpPr>
          <p:cNvPr id="9" name="Exemplar diamond"/>
          <p:cNvSpPr/>
          <p:nvPr/>
        </p:nvSpPr>
        <p:spPr>
          <a:xfrm>
            <a:off x="3160166" y="1677010"/>
            <a:ext cx="201168" cy="201168"/>
          </a:xfrm>
          <a:prstGeom prst="diamond">
            <a:avLst/>
          </a:prstGeom>
          <a:solidFill>
            <a:schemeClr val="accent1"/>
          </a:solidFill>
          <a:ln/>
        </p:spPr>
      </p:sp>
      <p:sp>
        <p:nvSpPr>
          <p:cNvPr id="10" name="Exemplar diamond"/>
          <p:cNvSpPr/>
          <p:nvPr/>
        </p:nvSpPr>
        <p:spPr>
          <a:xfrm>
            <a:off x="4045306" y="2797150"/>
            <a:ext cx="201168" cy="201168"/>
          </a:xfrm>
          <a:prstGeom prst="diamond">
            <a:avLst/>
          </a:prstGeom>
          <a:solidFill>
            <a:schemeClr val="accent1"/>
          </a:solidFill>
          <a:ln/>
        </p:spPr>
      </p:sp>
      <p:sp>
        <p:nvSpPr>
          <p:cNvPr id="11" name="Tooltip"/>
          <p:cNvSpPr/>
          <p:nvPr/>
        </p:nvSpPr>
        <p:spPr>
          <a:xfrm>
            <a:off x="3443630" y="1869034"/>
            <a:ext cx="1783080" cy="1051560"/>
          </a:xfrm>
          <a:prstGeom prst="roundRect">
            <a:avLst>
              <a:gd name="adj" fmla="val 5217"/>
            </a:avLst>
          </a:prstGeom>
          <a:solidFill>
            <a:schemeClr val="tx1"/>
          </a:solidFill>
          <a:ln/>
          <a:effectLst>
            <a:outerShdw sx="100000" sy="100000" kx="0" ky="0" algn="bl" rotWithShape="0" blurRad="76200" dist="25400" dir="5400000">
              <a:srgbClr val="000000">
                <a:alpha val="12000"/>
              </a:srgbClr>
            </a:outerShdw>
          </a:effectLst>
        </p:spPr>
      </p:sp>
      <p:sp>
        <p:nvSpPr>
          <p:cNvPr id="12" name="Text 9"/>
          <p:cNvSpPr txBox="1"/>
          <p:nvPr/>
        </p:nvSpPr>
        <p:spPr>
          <a:xfrm>
            <a:off x="3553358" y="1960474"/>
            <a:ext cx="1554480" cy="182880"/>
          </a:xfrm>
          <a:prstGeom prst="rect">
            <a:avLst/>
          </a:prstGeom>
          <a:noFill/>
          <a:ln/>
        </p:spPr>
        <p:txBody>
          <a:bodyPr wrap="square" lIns="0" tIns="0" rIns="0" bIns="0" rtlCol="0" anchor="t"/>
          <a:lstStyle/>
          <a:p>
            <a:pPr indent="0" marL="0">
              <a:buNone/>
            </a:pPr>
            <a:r>
              <a:rPr lang="en-US" sz="1100" dirty="0">
                <a:solidFill>
                  <a:schemeClr val="accent5"/>
                </a:solidFill>
              </a:rPr>
              <a:t>traceID</a:t>
            </a:r>
            <a:endParaRPr lang="en-US" sz="1100" dirty="0"/>
          </a:p>
        </p:txBody>
      </p:sp>
      <p:sp>
        <p:nvSpPr>
          <p:cNvPr id="13" name="Text 10"/>
          <p:cNvSpPr txBox="1"/>
          <p:nvPr/>
        </p:nvSpPr>
        <p:spPr>
          <a:xfrm>
            <a:off x="3553358" y="2143354"/>
            <a:ext cx="1554480" cy="228600"/>
          </a:xfrm>
          <a:prstGeom prst="rect">
            <a:avLst/>
          </a:prstGeom>
          <a:noFill/>
          <a:ln/>
        </p:spPr>
        <p:txBody>
          <a:bodyPr wrap="square" lIns="0" tIns="0" rIns="0" bIns="0" rtlCol="0" anchor="t"/>
          <a:lstStyle/>
          <a:p>
            <a:pPr indent="0" marL="0">
              <a:buNone/>
            </a:pPr>
            <a:r>
              <a:rPr lang="en-US" sz="1300" b="1" dirty="0">
                <a:solidFill>
                  <a:schemeClr val="bg1"/>
                </a:solidFill>
                <a:latin typeface="Courier New" pitchFamily="34" charset="0"/>
                <a:ea typeface="Courier New" pitchFamily="34" charset="-122"/>
                <a:cs typeface="Courier New" pitchFamily="34" charset="-120"/>
              </a:rPr>
              <a:t>AAA5S4ois0o</a:t>
            </a:r>
            <a:endParaRPr lang="en-US" sz="1300" dirty="0"/>
          </a:p>
        </p:txBody>
      </p:sp>
      <p:sp>
        <p:nvSpPr>
          <p:cNvPr id="14" name="Button"/>
          <p:cNvSpPr txBox="1"/>
          <p:nvPr/>
        </p:nvSpPr>
        <p:spPr>
          <a:xfrm>
            <a:off x="3553358" y="2490826"/>
            <a:ext cx="1554480" cy="274320"/>
          </a:xfrm>
          <a:prstGeom prst="roundRect">
            <a:avLst>
              <a:gd name="adj" fmla="val 16667"/>
            </a:avLst>
          </a:prstGeom>
          <a:solidFill>
            <a:schemeClr val="accent2"/>
          </a:solidFill>
          <a:ln/>
        </p:spPr>
        <p:txBody>
          <a:bodyPr wrap="square" lIns="0" tIns="0" rIns="0" bIns="0" rtlCol="0" anchor="ctr"/>
          <a:lstStyle/>
          <a:p>
            <a:pPr algn="ctr" indent="0" marL="0">
              <a:buNone/>
            </a:pPr>
            <a:r>
              <a:rPr lang="en-US" sz="1200" b="1" dirty="0">
                <a:solidFill>
                  <a:schemeClr val="bg1"/>
                </a:solidFill>
              </a:rPr>
              <a:t>Query with Tempo</a:t>
            </a:r>
            <a:endParaRPr lang="en-US" sz="1200" dirty="0"/>
          </a:p>
        </p:txBody>
      </p:sp>
      <p:sp>
        <p:nvSpPr>
          <p:cNvPr id="15" name="Text 12"/>
          <p:cNvSpPr txBox="1"/>
          <p:nvPr/>
        </p:nvSpPr>
        <p:spPr>
          <a:xfrm>
            <a:off x="685800" y="3886200"/>
            <a:ext cx="2743200" cy="228600"/>
          </a:xfrm>
          <a:prstGeom prst="rect">
            <a:avLst/>
          </a:prstGeom>
          <a:noFill/>
          <a:ln/>
        </p:spPr>
        <p:txBody>
          <a:bodyPr wrap="square" lIns="0" tIns="0" rIns="0" bIns="0" rtlCol="0" anchor="t"/>
          <a:lstStyle/>
          <a:p>
            <a:pPr indent="0" marL="0">
              <a:buNone/>
            </a:pPr>
            <a:r>
              <a:rPr lang="en-US" sz="1000" dirty="0">
                <a:solidFill>
                  <a:schemeClr val="tx2"/>
                </a:solidFill>
              </a:rPr>
              <a:t>Illustrative graph</a:t>
            </a:r>
            <a:endParaRPr lang="en-US" sz="1000" dirty="0"/>
          </a:p>
        </p:txBody>
      </p:sp>
      <p:sp>
        <p:nvSpPr>
          <p:cNvPr id="16" name="Step 1"/>
          <p:cNvSpPr txBox="1"/>
          <p:nvPr/>
        </p:nvSpPr>
        <p:spPr>
          <a:xfrm>
            <a:off x="5212080" y="1234440"/>
            <a:ext cx="347472" cy="347472"/>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7" name="Text 14"/>
          <p:cNvSpPr txBox="1"/>
          <p:nvPr/>
        </p:nvSpPr>
        <p:spPr>
          <a:xfrm>
            <a:off x="5715000" y="1234440"/>
            <a:ext cx="2971800" cy="685800"/>
          </a:xfrm>
          <a:prstGeom prst="rect">
            <a:avLst/>
          </a:prstGeom>
          <a:noFill/>
          <a:ln/>
        </p:spPr>
        <p:txBody>
          <a:bodyPr wrap="square" lIns="0" tIns="0" rIns="0" bIns="0" rtlCol="0" anchor="ctr"/>
          <a:lstStyle/>
          <a:p>
            <a:pPr indent="0" marL="0">
              <a:buNone/>
            </a:pPr>
            <a:r>
              <a:rPr lang="en-US" sz="1500" dirty="0">
                <a:solidFill>
                  <a:schemeClr val="tx1"/>
                </a:solidFill>
              </a:rPr>
              <a:t>Turn on Exemplars in the query options.</a:t>
            </a:r>
            <a:endParaRPr lang="en-US" sz="1500" dirty="0"/>
          </a:p>
        </p:txBody>
      </p:sp>
      <p:sp>
        <p:nvSpPr>
          <p:cNvPr id="18" name="Step 2"/>
          <p:cNvSpPr txBox="1"/>
          <p:nvPr/>
        </p:nvSpPr>
        <p:spPr>
          <a:xfrm>
            <a:off x="5212080" y="2011680"/>
            <a:ext cx="347472" cy="347472"/>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9" name="Text 16"/>
          <p:cNvSpPr txBox="1"/>
          <p:nvPr/>
        </p:nvSpPr>
        <p:spPr>
          <a:xfrm>
            <a:off x="5715000" y="2011680"/>
            <a:ext cx="2971800" cy="685800"/>
          </a:xfrm>
          <a:prstGeom prst="rect">
            <a:avLst/>
          </a:prstGeom>
          <a:noFill/>
          <a:ln/>
        </p:spPr>
        <p:txBody>
          <a:bodyPr wrap="square" lIns="0" tIns="0" rIns="0" bIns="0" rtlCol="0" anchor="ctr"/>
          <a:lstStyle/>
          <a:p>
            <a:pPr indent="0" marL="0">
              <a:buNone/>
            </a:pPr>
            <a:r>
              <a:rPr lang="en-US" sz="1500" dirty="0">
                <a:solidFill>
                  <a:schemeClr val="tx1"/>
                </a:solidFill>
              </a:rPr>
              <a:t>Look for diamonds on the graph.</a:t>
            </a:r>
            <a:endParaRPr lang="en-US" sz="1500" dirty="0"/>
          </a:p>
        </p:txBody>
      </p:sp>
      <p:sp>
        <p:nvSpPr>
          <p:cNvPr id="20" name="Step 3"/>
          <p:cNvSpPr txBox="1"/>
          <p:nvPr/>
        </p:nvSpPr>
        <p:spPr>
          <a:xfrm>
            <a:off x="5212080" y="2788920"/>
            <a:ext cx="347472" cy="347472"/>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Text 18"/>
          <p:cNvSpPr txBox="1"/>
          <p:nvPr/>
        </p:nvSpPr>
        <p:spPr>
          <a:xfrm>
            <a:off x="5715000" y="2788920"/>
            <a:ext cx="2971800" cy="685800"/>
          </a:xfrm>
          <a:prstGeom prst="rect">
            <a:avLst/>
          </a:prstGeom>
          <a:noFill/>
          <a:ln/>
        </p:spPr>
        <p:txBody>
          <a:bodyPr wrap="square" lIns="0" tIns="0" rIns="0" bIns="0" rtlCol="0" anchor="ctr"/>
          <a:lstStyle/>
          <a:p>
            <a:pPr indent="0" marL="0">
              <a:buNone/>
            </a:pPr>
            <a:r>
              <a:rPr lang="en-US" sz="1500" dirty="0">
                <a:solidFill>
                  <a:schemeClr val="tx1"/>
                </a:solidFill>
              </a:rPr>
              <a:t>Hover one to see its trace ID.</a:t>
            </a:r>
            <a:endParaRPr lang="en-US" sz="1500" dirty="0"/>
          </a:p>
        </p:txBody>
      </p:sp>
      <p:sp>
        <p:nvSpPr>
          <p:cNvPr id="22" name="Step 4"/>
          <p:cNvSpPr txBox="1"/>
          <p:nvPr/>
        </p:nvSpPr>
        <p:spPr>
          <a:xfrm>
            <a:off x="5212080" y="3566160"/>
            <a:ext cx="347472" cy="347472"/>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0"/>
          <p:cNvSpPr txBox="1"/>
          <p:nvPr/>
        </p:nvSpPr>
        <p:spPr>
          <a:xfrm>
            <a:off x="5715000" y="3566160"/>
            <a:ext cx="2971800" cy="685800"/>
          </a:xfrm>
          <a:prstGeom prst="rect">
            <a:avLst/>
          </a:prstGeom>
          <a:noFill/>
          <a:ln/>
        </p:spPr>
        <p:txBody>
          <a:bodyPr wrap="square" lIns="0" tIns="0" rIns="0" bIns="0" rtlCol="0" anchor="ctr"/>
          <a:lstStyle/>
          <a:p>
            <a:pPr indent="0" marL="0">
              <a:buNone/>
            </a:pPr>
            <a:r>
              <a:rPr lang="en-US" sz="1500" dirty="0">
                <a:solidFill>
                  <a:schemeClr val="tx1"/>
                </a:solidFill>
              </a:rPr>
              <a:t>Click Query with Tempo. The trace opens in a panel on the right.</a:t>
            </a:r>
            <a:endParaRPr lang="en-US" sz="1500" dirty="0"/>
          </a:p>
        </p:txBody>
      </p:sp>
      <p:sp>
        <p:nvSpPr>
          <p:cNvPr id="24" name="Text 21"/>
          <p:cNvSpPr txBox="1"/>
          <p:nvPr/>
        </p:nvSpPr>
        <p:spPr>
          <a:xfrm>
            <a:off x="5212080" y="4343400"/>
            <a:ext cx="3474720" cy="365760"/>
          </a:xfrm>
          <a:prstGeom prst="rect">
            <a:avLst/>
          </a:prstGeom>
          <a:noFill/>
          <a:ln/>
        </p:spPr>
        <p:txBody>
          <a:bodyPr wrap="square" lIns="0" tIns="0" rIns="0" bIns="0" rtlCol="0" anchor="t"/>
          <a:lstStyle/>
          <a:p>
            <a:pPr indent="0" marL="0">
              <a:buNone/>
            </a:pPr>
            <a:r>
              <a:rPr lang="en-US" sz="1100" dirty="0">
                <a:solidFill>
                  <a:schemeClr val="tx2"/>
                </a:solidFill>
              </a:rPr>
              <a:t>The docs call the marker a star. Current Grafana source draws a diamond. Exemplars are not available with instant queries.</a:t>
            </a:r>
            <a:endParaRPr lang="en-US" sz="1100" dirty="0"/>
          </a:p>
        </p:txBody>
      </p:sp>
      <p:sp>
        <p:nvSpPr>
          <p:cNvPr id="25" name="Source note"/>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chemeClr val="tx2"/>
                </a:solidFill>
              </a:rPr>
              <a:t>Sources: Grafana docs (fundamentals/exemplars, datasources/prometheus/query-editor), grafana/grafana ExemplarMarker.tsx.</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How the pieces connect</a:t>
            </a:r>
            <a:endParaRPr lang="en-US" sz="3400" dirty="0"/>
          </a:p>
        </p:txBody>
      </p:sp>
      <p:sp>
        <p:nvSpPr>
          <p:cNvPr id="4" name="Your app node"/>
          <p:cNvSpPr/>
          <p:nvPr/>
        </p:nvSpPr>
        <p:spPr>
          <a:xfrm>
            <a:off x="457200" y="1325880"/>
            <a:ext cx="1463040" cy="2148840"/>
          </a:xfrm>
          <a:prstGeom prst="roundRect">
            <a:avLst>
              <a:gd name="adj" fmla="val 5000"/>
            </a:avLst>
          </a:prstGeom>
          <a:solidFill>
            <a:schemeClr val="bg2"/>
          </a:solidFill>
          <a:ln/>
          <a:effectLst>
            <a:outerShdw sx="100000" sy="100000" kx="0" ky="0" algn="bl" rotWithShape="0" blurRad="76200" dist="25400" dir="5400000">
              <a:srgbClr val="000000">
                <a:alpha val="12000"/>
              </a:srgbClr>
            </a:outerShdw>
          </a:effectLst>
        </p:spPr>
      </p:sp>
      <p:sp>
        <p:nvSpPr>
          <p:cNvPr id="5" name="Your app dot"/>
          <p:cNvSpPr/>
          <p:nvPr/>
        </p:nvSpPr>
        <p:spPr>
          <a:xfrm>
            <a:off x="594360" y="1463040"/>
            <a:ext cx="274320" cy="274320"/>
          </a:xfrm>
          <a:prstGeom prst="ellipse">
            <a:avLst/>
          </a:prstGeom>
          <a:solidFill>
            <a:schemeClr val="accent4"/>
          </a:solidFill>
          <a:ln/>
        </p:spPr>
      </p:sp>
      <p:sp>
        <p:nvSpPr>
          <p:cNvPr id="6" name="Text 3"/>
          <p:cNvSpPr txBox="1"/>
          <p:nvPr/>
        </p:nvSpPr>
        <p:spPr>
          <a:xfrm>
            <a:off x="594360" y="1828800"/>
            <a:ext cx="1188720" cy="5486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Your app</a:t>
            </a:r>
            <a:endParaRPr lang="en-US" sz="1500" dirty="0"/>
          </a:p>
        </p:txBody>
      </p:sp>
      <p:sp>
        <p:nvSpPr>
          <p:cNvPr id="7" name="Text 4"/>
          <p:cNvSpPr txBox="1"/>
          <p:nvPr/>
        </p:nvSpPr>
        <p:spPr>
          <a:xfrm>
            <a:off x="594360" y="2423160"/>
            <a:ext cx="1188720" cy="1005840"/>
          </a:xfrm>
          <a:prstGeom prst="rect">
            <a:avLst/>
          </a:prstGeom>
          <a:noFill/>
          <a:ln/>
        </p:spPr>
        <p:txBody>
          <a:bodyPr wrap="square" lIns="0" tIns="0" rIns="0" bIns="0" rtlCol="0" anchor="t"/>
          <a:lstStyle/>
          <a:p>
            <a:pPr indent="0" marL="0">
              <a:buNone/>
            </a:pPr>
            <a:r>
              <a:rPr lang="en-US" sz="1300" dirty="0">
                <a:solidFill>
                  <a:schemeClr val="tx1"/>
                </a:solidFill>
              </a:rPr>
              <a:t>Records a trace ID next to a measurement.</a:t>
            </a:r>
            <a:endParaRPr lang="en-US" sz="1300" dirty="0"/>
          </a:p>
        </p:txBody>
      </p:sp>
      <p:sp>
        <p:nvSpPr>
          <p:cNvPr id="8" name="Arrow"/>
          <p:cNvSpPr/>
          <p:nvPr/>
        </p:nvSpPr>
        <p:spPr>
          <a:xfrm>
            <a:off x="1938528" y="2290572"/>
            <a:ext cx="192024" cy="219456"/>
          </a:xfrm>
          <a:prstGeom prst="rightArrow">
            <a:avLst/>
          </a:prstGeom>
          <a:solidFill>
            <a:schemeClr val="accent5"/>
          </a:solidFill>
          <a:ln/>
        </p:spPr>
      </p:sp>
      <p:sp>
        <p:nvSpPr>
          <p:cNvPr id="9" name="Prometheus node"/>
          <p:cNvSpPr/>
          <p:nvPr/>
        </p:nvSpPr>
        <p:spPr>
          <a:xfrm>
            <a:off x="2148840" y="1325880"/>
            <a:ext cx="1463040" cy="2148840"/>
          </a:xfrm>
          <a:prstGeom prst="roundRect">
            <a:avLst>
              <a:gd name="adj" fmla="val 5000"/>
            </a:avLst>
          </a:prstGeom>
          <a:solidFill>
            <a:schemeClr val="bg2"/>
          </a:solidFill>
          <a:ln/>
          <a:effectLst>
            <a:outerShdw sx="100000" sy="100000" kx="0" ky="0" algn="bl" rotWithShape="0" blurRad="76200" dist="25400" dir="5400000">
              <a:srgbClr val="000000">
                <a:alpha val="12000"/>
              </a:srgbClr>
            </a:outerShdw>
          </a:effectLst>
        </p:spPr>
      </p:sp>
      <p:sp>
        <p:nvSpPr>
          <p:cNvPr id="10" name="Prometheus dot"/>
          <p:cNvSpPr/>
          <p:nvPr/>
        </p:nvSpPr>
        <p:spPr>
          <a:xfrm>
            <a:off x="2286000" y="1463040"/>
            <a:ext cx="274320" cy="274320"/>
          </a:xfrm>
          <a:prstGeom prst="ellipse">
            <a:avLst/>
          </a:prstGeom>
          <a:solidFill>
            <a:schemeClr val="accent2"/>
          </a:solidFill>
          <a:ln/>
        </p:spPr>
      </p:sp>
      <p:sp>
        <p:nvSpPr>
          <p:cNvPr id="11" name="Text 8"/>
          <p:cNvSpPr txBox="1"/>
          <p:nvPr/>
        </p:nvSpPr>
        <p:spPr>
          <a:xfrm>
            <a:off x="2286000" y="1828800"/>
            <a:ext cx="1188720" cy="5486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Prometheus</a:t>
            </a:r>
            <a:endParaRPr lang="en-US" sz="1500" dirty="0"/>
          </a:p>
        </p:txBody>
      </p:sp>
      <p:sp>
        <p:nvSpPr>
          <p:cNvPr id="12" name="Text 9"/>
          <p:cNvSpPr txBox="1"/>
          <p:nvPr/>
        </p:nvSpPr>
        <p:spPr>
          <a:xfrm>
            <a:off x="2286000" y="2423160"/>
            <a:ext cx="1188720" cy="1005840"/>
          </a:xfrm>
          <a:prstGeom prst="rect">
            <a:avLst/>
          </a:prstGeom>
          <a:noFill/>
          <a:ln/>
        </p:spPr>
        <p:txBody>
          <a:bodyPr wrap="square" lIns="0" tIns="0" rIns="0" bIns="0" rtlCol="0" anchor="t"/>
          <a:lstStyle/>
          <a:p>
            <a:pPr indent="0" marL="0">
              <a:buNone/>
            </a:pPr>
            <a:r>
              <a:rPr lang="en-US" sz="1300" dirty="0">
                <a:solidFill>
                  <a:schemeClr val="tx1"/>
                </a:solidFill>
              </a:rPr>
              <a:t>Scrapes it in OpenMetrics format. Keeps it in memory.</a:t>
            </a:r>
            <a:endParaRPr lang="en-US" sz="1300" dirty="0"/>
          </a:p>
        </p:txBody>
      </p:sp>
      <p:sp>
        <p:nvSpPr>
          <p:cNvPr id="13" name="Arrow"/>
          <p:cNvSpPr/>
          <p:nvPr/>
        </p:nvSpPr>
        <p:spPr>
          <a:xfrm>
            <a:off x="3630168" y="2290572"/>
            <a:ext cx="192024" cy="219456"/>
          </a:xfrm>
          <a:prstGeom prst="rightArrow">
            <a:avLst/>
          </a:prstGeom>
          <a:solidFill>
            <a:schemeClr val="accent5"/>
          </a:solidFill>
          <a:ln/>
        </p:spPr>
      </p:sp>
      <p:sp>
        <p:nvSpPr>
          <p:cNvPr id="14" name="Mimir or Grafana Cloud node"/>
          <p:cNvSpPr/>
          <p:nvPr/>
        </p:nvSpPr>
        <p:spPr>
          <a:xfrm>
            <a:off x="3840480" y="1325880"/>
            <a:ext cx="1463040" cy="2148840"/>
          </a:xfrm>
          <a:prstGeom prst="roundRect">
            <a:avLst>
              <a:gd name="adj" fmla="val 5000"/>
            </a:avLst>
          </a:prstGeom>
          <a:solidFill>
            <a:schemeClr val="bg2"/>
          </a:solidFill>
          <a:ln/>
          <a:effectLst>
            <a:outerShdw sx="100000" sy="100000" kx="0" ky="0" algn="bl" rotWithShape="0" blurRad="76200" dist="25400" dir="5400000">
              <a:srgbClr val="000000">
                <a:alpha val="12000"/>
              </a:srgbClr>
            </a:outerShdw>
          </a:effectLst>
        </p:spPr>
      </p:sp>
      <p:sp>
        <p:nvSpPr>
          <p:cNvPr id="15" name="Mimir or Grafana Cloud dot"/>
          <p:cNvSpPr/>
          <p:nvPr/>
        </p:nvSpPr>
        <p:spPr>
          <a:xfrm>
            <a:off x="3977640" y="1463040"/>
            <a:ext cx="274320" cy="274320"/>
          </a:xfrm>
          <a:prstGeom prst="ellipse">
            <a:avLst/>
          </a:prstGeom>
          <a:solidFill>
            <a:schemeClr val="accent2"/>
          </a:solidFill>
          <a:ln/>
        </p:spPr>
      </p:sp>
      <p:sp>
        <p:nvSpPr>
          <p:cNvPr id="16" name="Text 13"/>
          <p:cNvSpPr txBox="1"/>
          <p:nvPr/>
        </p:nvSpPr>
        <p:spPr>
          <a:xfrm>
            <a:off x="3977640" y="1828800"/>
            <a:ext cx="1188720" cy="5486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Mimir or Grafana Cloud</a:t>
            </a:r>
            <a:endParaRPr lang="en-US" sz="1500" dirty="0"/>
          </a:p>
        </p:txBody>
      </p:sp>
      <p:sp>
        <p:nvSpPr>
          <p:cNvPr id="17" name="Text 14"/>
          <p:cNvSpPr txBox="1"/>
          <p:nvPr/>
        </p:nvSpPr>
        <p:spPr>
          <a:xfrm>
            <a:off x="3977640" y="2423160"/>
            <a:ext cx="1188720" cy="1005840"/>
          </a:xfrm>
          <a:prstGeom prst="rect">
            <a:avLst/>
          </a:prstGeom>
          <a:noFill/>
          <a:ln/>
        </p:spPr>
        <p:txBody>
          <a:bodyPr wrap="square" lIns="0" tIns="0" rIns="0" bIns="0" rtlCol="0" anchor="t"/>
          <a:lstStyle/>
          <a:p>
            <a:pPr indent="0" marL="0">
              <a:buNone/>
            </a:pPr>
            <a:r>
              <a:rPr lang="en-US" sz="1300" dirty="0">
                <a:solidFill>
                  <a:schemeClr val="tx1"/>
                </a:solidFill>
              </a:rPr>
              <a:t>Optional store. Gets exemplars through remote write.</a:t>
            </a:r>
            <a:endParaRPr lang="en-US" sz="1300" dirty="0"/>
          </a:p>
        </p:txBody>
      </p:sp>
      <p:sp>
        <p:nvSpPr>
          <p:cNvPr id="18" name="Arrow"/>
          <p:cNvSpPr/>
          <p:nvPr/>
        </p:nvSpPr>
        <p:spPr>
          <a:xfrm>
            <a:off x="5321808" y="2290572"/>
            <a:ext cx="192024" cy="219456"/>
          </a:xfrm>
          <a:prstGeom prst="rightArrow">
            <a:avLst/>
          </a:prstGeom>
          <a:solidFill>
            <a:schemeClr val="accent5"/>
          </a:solidFill>
          <a:ln/>
        </p:spPr>
      </p:sp>
      <p:sp>
        <p:nvSpPr>
          <p:cNvPr id="19" name="Grafana node"/>
          <p:cNvSpPr/>
          <p:nvPr/>
        </p:nvSpPr>
        <p:spPr>
          <a:xfrm>
            <a:off x="5532120" y="1325880"/>
            <a:ext cx="1463040" cy="2148840"/>
          </a:xfrm>
          <a:prstGeom prst="roundRect">
            <a:avLst>
              <a:gd name="adj" fmla="val 5000"/>
            </a:avLst>
          </a:prstGeom>
          <a:solidFill>
            <a:schemeClr val="bg2"/>
          </a:solidFill>
          <a:ln/>
          <a:effectLst>
            <a:outerShdw sx="100000" sy="100000" kx="0" ky="0" algn="bl" rotWithShape="0" blurRad="76200" dist="25400" dir="5400000">
              <a:srgbClr val="000000">
                <a:alpha val="12000"/>
              </a:srgbClr>
            </a:outerShdw>
          </a:effectLst>
        </p:spPr>
      </p:sp>
      <p:sp>
        <p:nvSpPr>
          <p:cNvPr id="20" name="Grafana dot"/>
          <p:cNvSpPr/>
          <p:nvPr/>
        </p:nvSpPr>
        <p:spPr>
          <a:xfrm>
            <a:off x="5669280" y="1463040"/>
            <a:ext cx="274320" cy="274320"/>
          </a:xfrm>
          <a:prstGeom prst="ellipse">
            <a:avLst/>
          </a:prstGeom>
          <a:solidFill>
            <a:schemeClr val="accent1"/>
          </a:solidFill>
          <a:ln/>
        </p:spPr>
      </p:sp>
      <p:sp>
        <p:nvSpPr>
          <p:cNvPr id="21" name="Text 18"/>
          <p:cNvSpPr txBox="1"/>
          <p:nvPr/>
        </p:nvSpPr>
        <p:spPr>
          <a:xfrm>
            <a:off x="5669280" y="1828800"/>
            <a:ext cx="1188720" cy="5486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Grafana</a:t>
            </a:r>
            <a:endParaRPr lang="en-US" sz="1500" dirty="0"/>
          </a:p>
        </p:txBody>
      </p:sp>
      <p:sp>
        <p:nvSpPr>
          <p:cNvPr id="22" name="Text 19"/>
          <p:cNvSpPr txBox="1"/>
          <p:nvPr/>
        </p:nvSpPr>
        <p:spPr>
          <a:xfrm>
            <a:off x="5669280" y="2423160"/>
            <a:ext cx="1188720" cy="1005840"/>
          </a:xfrm>
          <a:prstGeom prst="rect">
            <a:avLst/>
          </a:prstGeom>
          <a:noFill/>
          <a:ln/>
        </p:spPr>
        <p:txBody>
          <a:bodyPr wrap="square" lIns="0" tIns="0" rIns="0" bIns="0" rtlCol="0" anchor="t"/>
          <a:lstStyle/>
          <a:p>
            <a:pPr indent="0" marL="0">
              <a:buNone/>
            </a:pPr>
            <a:r>
              <a:rPr lang="en-US" sz="1300" dirty="0">
                <a:solidFill>
                  <a:schemeClr val="tx1"/>
                </a:solidFill>
              </a:rPr>
              <a:t>Draws the diamond. Links to the trace.</a:t>
            </a:r>
            <a:endParaRPr lang="en-US" sz="1300" dirty="0"/>
          </a:p>
        </p:txBody>
      </p:sp>
      <p:sp>
        <p:nvSpPr>
          <p:cNvPr id="23" name="Arrow"/>
          <p:cNvSpPr/>
          <p:nvPr/>
        </p:nvSpPr>
        <p:spPr>
          <a:xfrm>
            <a:off x="7013448" y="2290572"/>
            <a:ext cx="192024" cy="219456"/>
          </a:xfrm>
          <a:prstGeom prst="rightArrow">
            <a:avLst/>
          </a:prstGeom>
          <a:solidFill>
            <a:schemeClr val="accent5"/>
          </a:solidFill>
          <a:ln/>
        </p:spPr>
      </p:sp>
      <p:sp>
        <p:nvSpPr>
          <p:cNvPr id="24" name="Tempo node"/>
          <p:cNvSpPr/>
          <p:nvPr/>
        </p:nvSpPr>
        <p:spPr>
          <a:xfrm>
            <a:off x="7223760" y="1325880"/>
            <a:ext cx="1463040" cy="2148840"/>
          </a:xfrm>
          <a:prstGeom prst="roundRect">
            <a:avLst>
              <a:gd name="adj" fmla="val 5000"/>
            </a:avLst>
          </a:prstGeom>
          <a:solidFill>
            <a:schemeClr val="bg2"/>
          </a:solidFill>
          <a:ln/>
          <a:effectLst>
            <a:outerShdw sx="100000" sy="100000" kx="0" ky="0" algn="bl" rotWithShape="0" blurRad="76200" dist="25400" dir="5400000">
              <a:srgbClr val="000000">
                <a:alpha val="12000"/>
              </a:srgbClr>
            </a:outerShdw>
          </a:effectLst>
        </p:spPr>
      </p:sp>
      <p:sp>
        <p:nvSpPr>
          <p:cNvPr id="25" name="Tempo dot"/>
          <p:cNvSpPr/>
          <p:nvPr/>
        </p:nvSpPr>
        <p:spPr>
          <a:xfrm>
            <a:off x="7360920" y="1463040"/>
            <a:ext cx="274320" cy="274320"/>
          </a:xfrm>
          <a:prstGeom prst="ellipse">
            <a:avLst/>
          </a:prstGeom>
          <a:solidFill>
            <a:schemeClr val="accent3"/>
          </a:solidFill>
          <a:ln/>
        </p:spPr>
      </p:sp>
      <p:sp>
        <p:nvSpPr>
          <p:cNvPr id="26" name="Text 23"/>
          <p:cNvSpPr txBox="1"/>
          <p:nvPr/>
        </p:nvSpPr>
        <p:spPr>
          <a:xfrm>
            <a:off x="7360920" y="1828800"/>
            <a:ext cx="1188720" cy="54864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Tempo</a:t>
            </a:r>
            <a:endParaRPr lang="en-US" sz="1500" dirty="0"/>
          </a:p>
        </p:txBody>
      </p:sp>
      <p:sp>
        <p:nvSpPr>
          <p:cNvPr id="27" name="Text 24"/>
          <p:cNvSpPr txBox="1"/>
          <p:nvPr/>
        </p:nvSpPr>
        <p:spPr>
          <a:xfrm>
            <a:off x="7360920" y="2423160"/>
            <a:ext cx="1188720" cy="1005840"/>
          </a:xfrm>
          <a:prstGeom prst="rect">
            <a:avLst/>
          </a:prstGeom>
          <a:noFill/>
          <a:ln/>
        </p:spPr>
        <p:txBody>
          <a:bodyPr wrap="square" lIns="0" tIns="0" rIns="0" bIns="0" rtlCol="0" anchor="t"/>
          <a:lstStyle/>
          <a:p>
            <a:pPr indent="0" marL="0">
              <a:buNone/>
            </a:pPr>
            <a:r>
              <a:rPr lang="en-US" sz="1300" dirty="0">
                <a:solidFill>
                  <a:schemeClr val="tx1"/>
                </a:solidFill>
              </a:rPr>
              <a:t>Stores traces. Opens the one the diamond points to.</a:t>
            </a:r>
            <a:endParaRPr lang="en-US" sz="1300" dirty="0"/>
          </a:p>
        </p:txBody>
      </p:sp>
      <p:sp>
        <p:nvSpPr>
          <p:cNvPr id="28" name="Takeaway bar"/>
          <p:cNvSpPr/>
          <p:nvPr/>
        </p:nvSpPr>
        <p:spPr>
          <a:xfrm>
            <a:off x="457200" y="3703320"/>
            <a:ext cx="8229600" cy="777240"/>
          </a:xfrm>
          <a:prstGeom prst="roundRect">
            <a:avLst>
              <a:gd name="adj" fmla="val 9412"/>
            </a:avLst>
          </a:prstGeom>
          <a:solidFill>
            <a:schemeClr val="tx1"/>
          </a:solidFill>
          <a:ln/>
          <a:effectLst>
            <a:outerShdw sx="100000" sy="100000" kx="0" ky="0" algn="bl" rotWithShape="0" blurRad="76200" dist="25400" dir="5400000">
              <a:srgbClr val="000000">
                <a:alpha val="12000"/>
              </a:srgbClr>
            </a:outerShdw>
          </a:effectLst>
        </p:spPr>
      </p:sp>
      <p:sp>
        <p:nvSpPr>
          <p:cNvPr id="29" name="Text 26"/>
          <p:cNvSpPr txBox="1"/>
          <p:nvPr/>
        </p:nvSpPr>
        <p:spPr>
          <a:xfrm>
            <a:off x="685800" y="3840480"/>
            <a:ext cx="7772400" cy="548640"/>
          </a:xfrm>
          <a:prstGeom prst="rect">
            <a:avLst/>
          </a:prstGeom>
          <a:noFill/>
          <a:ln/>
        </p:spPr>
        <p:txBody>
          <a:bodyPr wrap="square" lIns="0" tIns="0" rIns="0" bIns="0" rtlCol="0" anchor="ctr"/>
          <a:lstStyle/>
          <a:p>
            <a:pPr indent="0" marL="0">
              <a:buNone/>
            </a:pPr>
            <a:r>
              <a:rPr lang="en-US" sz="1400" b="1" dirty="0">
                <a:solidFill>
                  <a:schemeClr val="bg1"/>
                </a:solidFill>
              </a:rPr>
              <a:t>The trace ID travels with the metric. </a:t>
            </a:r>
            <a:pPr indent="0" marL="0">
              <a:buNone/>
            </a:pPr>
            <a:r>
              <a:rPr lang="en-US" sz="1400" dirty="0">
                <a:solidFill>
                  <a:schemeClr val="bg1"/>
                </a:solidFill>
              </a:rPr>
              <a:t>The trace itself goes to Tempo, “an open-source, easy-to-use, and high-scale distributed tracing backend.”</a:t>
            </a:r>
            <a:endParaRPr lang="en-US" sz="1400" dirty="0"/>
          </a:p>
        </p:txBody>
      </p:sp>
      <p:sp>
        <p:nvSpPr>
          <p:cNvPr id="30" name="Source note"/>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chemeClr val="tx2"/>
                </a:solidFill>
              </a:rPr>
              <a:t>Sources: Tempo docs (grafana.com/docs/tempo/latest/), Prometheus docs, Grafana Cloud exemplars docs.</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What an exemplar looks like</a:t>
            </a:r>
            <a:endParaRPr lang="en-US" sz="3400" dirty="0"/>
          </a:p>
        </p:txBody>
      </p:sp>
      <p:sp>
        <p:nvSpPr>
          <p:cNvPr id="4" name="Code card"/>
          <p:cNvSpPr/>
          <p:nvPr/>
        </p:nvSpPr>
        <p:spPr>
          <a:xfrm>
            <a:off x="457200" y="1188720"/>
            <a:ext cx="8229600" cy="1097280"/>
          </a:xfrm>
          <a:prstGeom prst="roundRect">
            <a:avLst>
              <a:gd name="adj" fmla="val 6667"/>
            </a:avLst>
          </a:prstGeom>
          <a:solidFill>
            <a:schemeClr val="tx1"/>
          </a:solidFill>
          <a:ln/>
          <a:effectLst>
            <a:outerShdw sx="100000" sy="100000" kx="0" ky="0" algn="bl" rotWithShape="0" blurRad="76200" dist="25400" dir="5400000">
              <a:srgbClr val="000000">
                <a:alpha val="12000"/>
              </a:srgbClr>
            </a:outerShdw>
          </a:effectLst>
        </p:spPr>
      </p:sp>
      <p:sp>
        <p:nvSpPr>
          <p:cNvPr id="5" name="Text 2"/>
          <p:cNvSpPr txBox="1"/>
          <p:nvPr/>
        </p:nvSpPr>
        <p:spPr>
          <a:xfrm>
            <a:off x="731520" y="1325880"/>
            <a:ext cx="7680960" cy="822960"/>
          </a:xfrm>
          <a:prstGeom prst="rect">
            <a:avLst/>
          </a:prstGeom>
          <a:noFill/>
          <a:ln/>
        </p:spPr>
        <p:txBody>
          <a:bodyPr wrap="square" lIns="0" tIns="0" rIns="0" bIns="0" rtlCol="0" anchor="ctr"/>
          <a:lstStyle/>
          <a:p>
            <a:pPr indent="0" marL="0">
              <a:buNone/>
            </a:pPr>
            <a:r>
              <a:rPr lang="en-US" sz="1800" dirty="0">
                <a:solidFill>
                  <a:schemeClr val="bg1"/>
                </a:solidFill>
                <a:latin typeface="Courier New" pitchFamily="34" charset="0"/>
                <a:ea typeface="Courier New" pitchFamily="34" charset="-122"/>
                <a:cs typeface="Courier New" pitchFamily="34" charset="-120"/>
              </a:rPr>
              <a:t>request_duration_seconds_bucket{le="0.1"} 8</a:t>
            </a:r>
            <a:endParaRPr lang="en-US" sz="1800" dirty="0"/>
          </a:p>
          <a:p>
            <a:pPr indent="0" marL="0">
              <a:buNone/>
            </a:pPr>
            <a:r>
              <a:rPr lang="en-US" sz="1800" dirty="0">
                <a:solidFill>
                  <a:srgbClr val="F5A524"/>
                </a:solidFill>
                <a:latin typeface="Courier New" pitchFamily="34" charset="0"/>
                <a:ea typeface="Courier New" pitchFamily="34" charset="-122"/>
                <a:cs typeface="Courier New" pitchFamily="34" charset="-120"/>
              </a:rPr>
              <a:t>    # {trace_id="AAA5S4ois0o"} 0.054</a:t>
            </a:r>
            <a:endParaRPr lang="en-US" sz="1800" dirty="0"/>
          </a:p>
        </p:txBody>
      </p:sp>
      <p:sp>
        <p:nvSpPr>
          <p:cNvPr id="6" name="The metric card"/>
          <p:cNvSpPr/>
          <p:nvPr/>
        </p:nvSpPr>
        <p:spPr>
          <a:xfrm>
            <a:off x="457200" y="2514600"/>
            <a:ext cx="2560320" cy="1143000"/>
          </a:xfrm>
          <a:prstGeom prst="roundRect">
            <a:avLst>
              <a:gd name="adj" fmla="val 6400"/>
            </a:avLst>
          </a:prstGeom>
          <a:solidFill>
            <a:schemeClr val="bg2"/>
          </a:solidFill>
          <a:ln/>
          <a:effectLst>
            <a:outerShdw sx="100000" sy="100000" kx="0" ky="0" algn="bl" rotWithShape="0" blurRad="76200" dist="25400" dir="5400000">
              <a:srgbClr val="000000">
                <a:alpha val="12000"/>
              </a:srgbClr>
            </a:outerShdw>
          </a:effectLst>
        </p:spPr>
      </p:sp>
      <p:sp>
        <p:nvSpPr>
          <p:cNvPr id="7" name="Exemplar diamond"/>
          <p:cNvSpPr/>
          <p:nvPr/>
        </p:nvSpPr>
        <p:spPr>
          <a:xfrm>
            <a:off x="630936" y="2688336"/>
            <a:ext cx="201168" cy="201168"/>
          </a:xfrm>
          <a:prstGeom prst="diamond">
            <a:avLst/>
          </a:prstGeom>
          <a:solidFill>
            <a:schemeClr val="accent2"/>
          </a:solidFill>
          <a:ln/>
        </p:spPr>
      </p:sp>
      <p:sp>
        <p:nvSpPr>
          <p:cNvPr id="8" name="Text 5"/>
          <p:cNvSpPr txBox="1"/>
          <p:nvPr/>
        </p:nvSpPr>
        <p:spPr>
          <a:xfrm>
            <a:off x="960120" y="2670048"/>
            <a:ext cx="192024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The metric</a:t>
            </a:r>
            <a:endParaRPr lang="en-US" sz="1600" dirty="0"/>
          </a:p>
        </p:txBody>
      </p:sp>
      <p:sp>
        <p:nvSpPr>
          <p:cNvPr id="9" name="Text 6"/>
          <p:cNvSpPr txBox="1"/>
          <p:nvPr/>
        </p:nvSpPr>
        <p:spPr>
          <a:xfrm>
            <a:off x="640080" y="3063240"/>
            <a:ext cx="2240280" cy="548640"/>
          </a:xfrm>
          <a:prstGeom prst="rect">
            <a:avLst/>
          </a:prstGeom>
          <a:noFill/>
          <a:ln/>
        </p:spPr>
        <p:txBody>
          <a:bodyPr wrap="square" lIns="0" tIns="0" rIns="0" bIns="0" rtlCol="0" anchor="t"/>
          <a:lstStyle/>
          <a:p>
            <a:pPr indent="0" marL="0">
              <a:buNone/>
            </a:pPr>
            <a:r>
              <a:rPr lang="en-US" sz="1400" dirty="0">
                <a:solidFill>
                  <a:schemeClr val="tx1"/>
                </a:solidFill>
              </a:rPr>
              <a:t>A latency bucket: requests of 0.1 seconds or less.</a:t>
            </a:r>
            <a:endParaRPr lang="en-US" sz="1400" dirty="0"/>
          </a:p>
        </p:txBody>
      </p:sp>
      <p:sp>
        <p:nvSpPr>
          <p:cNvPr id="10" name="The exemplar card"/>
          <p:cNvSpPr/>
          <p:nvPr/>
        </p:nvSpPr>
        <p:spPr>
          <a:xfrm>
            <a:off x="3291840" y="2514600"/>
            <a:ext cx="2560320" cy="1143000"/>
          </a:xfrm>
          <a:prstGeom prst="roundRect">
            <a:avLst>
              <a:gd name="adj" fmla="val 6400"/>
            </a:avLst>
          </a:prstGeom>
          <a:solidFill>
            <a:schemeClr val="bg2"/>
          </a:solidFill>
          <a:ln/>
          <a:effectLst>
            <a:outerShdw sx="100000" sy="100000" kx="0" ky="0" algn="bl" rotWithShape="0" blurRad="76200" dist="25400" dir="5400000">
              <a:srgbClr val="000000">
                <a:alpha val="12000"/>
              </a:srgbClr>
            </a:outerShdw>
          </a:effectLst>
        </p:spPr>
      </p:sp>
      <p:sp>
        <p:nvSpPr>
          <p:cNvPr id="11" name="Exemplar diamond"/>
          <p:cNvSpPr/>
          <p:nvPr/>
        </p:nvSpPr>
        <p:spPr>
          <a:xfrm>
            <a:off x="3465576" y="2688336"/>
            <a:ext cx="201168" cy="201168"/>
          </a:xfrm>
          <a:prstGeom prst="diamond">
            <a:avLst/>
          </a:prstGeom>
          <a:solidFill>
            <a:schemeClr val="accent1"/>
          </a:solidFill>
          <a:ln/>
        </p:spPr>
      </p:sp>
      <p:sp>
        <p:nvSpPr>
          <p:cNvPr id="12" name="Text 9"/>
          <p:cNvSpPr txBox="1"/>
          <p:nvPr/>
        </p:nvSpPr>
        <p:spPr>
          <a:xfrm>
            <a:off x="3794760" y="2670048"/>
            <a:ext cx="192024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The exemplar</a:t>
            </a:r>
            <a:endParaRPr lang="en-US" sz="1600" dirty="0"/>
          </a:p>
        </p:txBody>
      </p:sp>
      <p:sp>
        <p:nvSpPr>
          <p:cNvPr id="13" name="Text 10"/>
          <p:cNvSpPr txBox="1"/>
          <p:nvPr/>
        </p:nvSpPr>
        <p:spPr>
          <a:xfrm>
            <a:off x="3474720" y="3063240"/>
            <a:ext cx="2240280" cy="548640"/>
          </a:xfrm>
          <a:prstGeom prst="rect">
            <a:avLst/>
          </a:prstGeom>
          <a:noFill/>
          <a:ln/>
        </p:spPr>
        <p:txBody>
          <a:bodyPr wrap="square" lIns="0" tIns="0" rIns="0" bIns="0" rtlCol="0" anchor="t"/>
          <a:lstStyle/>
          <a:p>
            <a:pPr indent="0" marL="0">
              <a:buNone/>
            </a:pPr>
            <a:r>
              <a:rPr lang="en-US" sz="1400" dirty="0">
                <a:solidFill>
                  <a:schemeClr val="tx1"/>
                </a:solidFill>
              </a:rPr>
              <a:t>A trace ID, written after the # sign.</a:t>
            </a:r>
            <a:endParaRPr lang="en-US" sz="1400" dirty="0"/>
          </a:p>
        </p:txBody>
      </p:sp>
      <p:sp>
        <p:nvSpPr>
          <p:cNvPr id="14" name="The value card"/>
          <p:cNvSpPr/>
          <p:nvPr/>
        </p:nvSpPr>
        <p:spPr>
          <a:xfrm>
            <a:off x="6126480" y="2514600"/>
            <a:ext cx="2560320" cy="1143000"/>
          </a:xfrm>
          <a:prstGeom prst="roundRect">
            <a:avLst>
              <a:gd name="adj" fmla="val 6400"/>
            </a:avLst>
          </a:prstGeom>
          <a:solidFill>
            <a:schemeClr val="bg2"/>
          </a:solidFill>
          <a:ln/>
          <a:effectLst>
            <a:outerShdw sx="100000" sy="100000" kx="0" ky="0" algn="bl" rotWithShape="0" blurRad="76200" dist="25400" dir="5400000">
              <a:srgbClr val="000000">
                <a:alpha val="12000"/>
              </a:srgbClr>
            </a:outerShdw>
          </a:effectLst>
        </p:spPr>
      </p:sp>
      <p:sp>
        <p:nvSpPr>
          <p:cNvPr id="15" name="Exemplar diamond"/>
          <p:cNvSpPr/>
          <p:nvPr/>
        </p:nvSpPr>
        <p:spPr>
          <a:xfrm>
            <a:off x="6300216" y="2688336"/>
            <a:ext cx="201168" cy="201168"/>
          </a:xfrm>
          <a:prstGeom prst="diamond">
            <a:avLst/>
          </a:prstGeom>
          <a:solidFill>
            <a:schemeClr val="accent3"/>
          </a:solidFill>
          <a:ln/>
        </p:spPr>
      </p:sp>
      <p:sp>
        <p:nvSpPr>
          <p:cNvPr id="16" name="Text 13"/>
          <p:cNvSpPr txBox="1"/>
          <p:nvPr/>
        </p:nvSpPr>
        <p:spPr>
          <a:xfrm>
            <a:off x="6629400" y="2670048"/>
            <a:ext cx="192024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The value</a:t>
            </a:r>
            <a:endParaRPr lang="en-US" sz="1600" dirty="0"/>
          </a:p>
        </p:txBody>
      </p:sp>
      <p:sp>
        <p:nvSpPr>
          <p:cNvPr id="17" name="Text 14"/>
          <p:cNvSpPr txBox="1"/>
          <p:nvPr/>
        </p:nvSpPr>
        <p:spPr>
          <a:xfrm>
            <a:off x="6309360" y="3063240"/>
            <a:ext cx="2240280" cy="548640"/>
          </a:xfrm>
          <a:prstGeom prst="rect">
            <a:avLst/>
          </a:prstGeom>
          <a:noFill/>
          <a:ln/>
        </p:spPr>
        <p:txBody>
          <a:bodyPr wrap="square" lIns="0" tIns="0" rIns="0" bIns="0" rtlCol="0" anchor="t"/>
          <a:lstStyle/>
          <a:p>
            <a:pPr indent="0" marL="0">
              <a:buNone/>
            </a:pPr>
            <a:r>
              <a:rPr lang="en-US" sz="1400" dirty="0">
                <a:solidFill>
                  <a:schemeClr val="tx1"/>
                </a:solidFill>
              </a:rPr>
              <a:t>That one request took 0.054 seconds.</a:t>
            </a:r>
            <a:endParaRPr lang="en-US" sz="1400" dirty="0"/>
          </a:p>
        </p:txBody>
      </p:sp>
      <p:sp>
        <p:nvSpPr>
          <p:cNvPr id="18" name="Text 15"/>
          <p:cNvSpPr txBox="1"/>
          <p:nvPr/>
        </p:nvSpPr>
        <p:spPr>
          <a:xfrm>
            <a:off x="457200" y="3840480"/>
            <a:ext cx="8229600" cy="731520"/>
          </a:xfrm>
          <a:prstGeom prst="rect">
            <a:avLst/>
          </a:prstGeom>
          <a:noFill/>
          <a:ln/>
        </p:spPr>
        <p:txBody>
          <a:bodyPr wrap="square" lIns="0" tIns="0" rIns="0" bIns="0" rtlCol="0" anchor="t"/>
          <a:lstStyle/>
          <a:p>
            <a:pPr indent="0" marL="0">
              <a:buNone/>
            </a:pPr>
            <a:r>
              <a:rPr lang="en-US" sz="1400" dirty="0">
                <a:solidFill>
                  <a:schemeClr val="tx1"/>
                </a:solidFill>
              </a:rPr>
              <a:t>OpenMetrics 1.0 rules: labels and a value are required, a timestamp is optional, and the labels may total at most 128 characters. Prometheus docs list exemplars as supported in the OpenMetrics and protobuf formats, and list nothing for the classic text format.</a:t>
            </a:r>
            <a:endParaRPr lang="en-US" sz="1400" dirty="0"/>
          </a:p>
        </p:txBody>
      </p:sp>
      <p:sp>
        <p:nvSpPr>
          <p:cNvPr id="19" name="Source note"/>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chemeClr val="tx2"/>
                </a:solidFill>
              </a:rPr>
              <a:t>Sources: github.com/prometheus/OpenMetrics (specification), prometheus.io/docs/instrumenting/exposition_formats/, Grafana Cloud launch post.</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How one request gets picked</a:t>
            </a:r>
            <a:endParaRPr lang="en-US" sz="3400" dirty="0"/>
          </a:p>
        </p:txBody>
      </p:sp>
      <p:sp>
        <p:nvSpPr>
          <p:cNvPr id="4" name="Go and Python clients card"/>
          <p:cNvSpPr/>
          <p:nvPr/>
        </p:nvSpPr>
        <p:spPr>
          <a:xfrm>
            <a:off x="457200" y="1234440"/>
            <a:ext cx="2560320" cy="2286000"/>
          </a:xfrm>
          <a:prstGeom prst="roundRect">
            <a:avLst>
              <a:gd name="adj" fmla="val 3200"/>
            </a:avLst>
          </a:prstGeom>
          <a:solidFill>
            <a:schemeClr val="bg2"/>
          </a:solidFill>
          <a:ln/>
          <a:effectLst>
            <a:outerShdw sx="100000" sy="100000" kx="0" ky="0" algn="bl" rotWithShape="0" blurRad="76200" dist="25400" dir="5400000">
              <a:srgbClr val="000000">
                <a:alpha val="12000"/>
              </a:srgbClr>
            </a:outerShdw>
          </a:effectLst>
        </p:spPr>
      </p:sp>
      <p:sp>
        <p:nvSpPr>
          <p:cNvPr id="5" name="Exemplar diamond"/>
          <p:cNvSpPr/>
          <p:nvPr/>
        </p:nvSpPr>
        <p:spPr>
          <a:xfrm>
            <a:off x="630936" y="1435608"/>
            <a:ext cx="237744" cy="237744"/>
          </a:xfrm>
          <a:prstGeom prst="diamond">
            <a:avLst/>
          </a:prstGeom>
          <a:solidFill>
            <a:schemeClr val="accent2"/>
          </a:solidFill>
          <a:ln/>
        </p:spPr>
      </p:sp>
      <p:sp>
        <p:nvSpPr>
          <p:cNvPr id="6" name="Text 3"/>
          <p:cNvSpPr txBox="1"/>
          <p:nvPr/>
        </p:nvSpPr>
        <p:spPr>
          <a:xfrm>
            <a:off x="1005840" y="1389888"/>
            <a:ext cx="19202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Go and Python clients</a:t>
            </a:r>
            <a:endParaRPr lang="en-US" sz="1600" dirty="0"/>
          </a:p>
        </p:txBody>
      </p:sp>
      <p:sp>
        <p:nvSpPr>
          <p:cNvPr id="7" name="Text 4"/>
          <p:cNvSpPr txBox="1"/>
          <p:nvPr/>
        </p:nvSpPr>
        <p:spPr>
          <a:xfrm>
            <a:off x="658368" y="2011680"/>
            <a:ext cx="2194560" cy="1463040"/>
          </a:xfrm>
          <a:prstGeom prst="rect">
            <a:avLst/>
          </a:prstGeom>
          <a:noFill/>
          <a:ln/>
        </p:spPr>
        <p:txBody>
          <a:bodyPr wrap="square" lIns="0" tIns="0" rIns="0" bIns="0" rtlCol="0" anchor="t"/>
          <a:lstStyle/>
          <a:p>
            <a:pPr indent="0" marL="0">
              <a:buNone/>
            </a:pPr>
            <a:r>
              <a:rPr lang="en-US" sz="1400" dirty="0">
                <a:solidFill>
                  <a:schemeClr val="tx1"/>
                </a:solidFill>
              </a:rPr>
              <a:t>Your code passes the trace ID. A new exemplar replaces the old one: one per bucket on a classic histogram.</a:t>
            </a:r>
            <a:endParaRPr lang="en-US" sz="1400" dirty="0"/>
          </a:p>
        </p:txBody>
      </p:sp>
      <p:sp>
        <p:nvSpPr>
          <p:cNvPr id="8" name="Java client card"/>
          <p:cNvSpPr/>
          <p:nvPr/>
        </p:nvSpPr>
        <p:spPr>
          <a:xfrm>
            <a:off x="3291840" y="1234440"/>
            <a:ext cx="2560320" cy="2286000"/>
          </a:xfrm>
          <a:prstGeom prst="roundRect">
            <a:avLst>
              <a:gd name="adj" fmla="val 3200"/>
            </a:avLst>
          </a:prstGeom>
          <a:solidFill>
            <a:schemeClr val="bg2"/>
          </a:solidFill>
          <a:ln/>
          <a:effectLst>
            <a:outerShdw sx="100000" sy="100000" kx="0" ky="0" algn="bl" rotWithShape="0" blurRad="76200" dist="25400" dir="5400000">
              <a:srgbClr val="000000">
                <a:alpha val="12000"/>
              </a:srgbClr>
            </a:outerShdw>
          </a:effectLst>
        </p:spPr>
      </p:sp>
      <p:sp>
        <p:nvSpPr>
          <p:cNvPr id="9" name="Exemplar diamond"/>
          <p:cNvSpPr/>
          <p:nvPr/>
        </p:nvSpPr>
        <p:spPr>
          <a:xfrm>
            <a:off x="3465576" y="1435608"/>
            <a:ext cx="237744" cy="237744"/>
          </a:xfrm>
          <a:prstGeom prst="diamond">
            <a:avLst/>
          </a:prstGeom>
          <a:solidFill>
            <a:schemeClr val="accent4"/>
          </a:solidFill>
          <a:ln/>
        </p:spPr>
      </p:sp>
      <p:sp>
        <p:nvSpPr>
          <p:cNvPr id="10" name="Text 7"/>
          <p:cNvSpPr txBox="1"/>
          <p:nvPr/>
        </p:nvSpPr>
        <p:spPr>
          <a:xfrm>
            <a:off x="3840480" y="1389888"/>
            <a:ext cx="19202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Java client</a:t>
            </a:r>
            <a:endParaRPr lang="en-US" sz="1600" dirty="0"/>
          </a:p>
        </p:txBody>
      </p:sp>
      <p:sp>
        <p:nvSpPr>
          <p:cNvPr id="11" name="Text 8"/>
          <p:cNvSpPr txBox="1"/>
          <p:nvPr/>
        </p:nvSpPr>
        <p:spPr>
          <a:xfrm>
            <a:off x="3493008" y="2011680"/>
            <a:ext cx="2194560" cy="1463040"/>
          </a:xfrm>
          <a:prstGeom prst="rect">
            <a:avLst/>
          </a:prstGeom>
          <a:noFill/>
          <a:ln/>
        </p:spPr>
        <p:txBody>
          <a:bodyPr wrap="square" lIns="0" tIns="0" rIns="0" bIns="0" rtlCol="0" anchor="t"/>
          <a:lstStyle/>
          <a:p>
            <a:pPr indent="0" marL="0">
              <a:buNone/>
            </a:pPr>
            <a:r>
              <a:rPr lang="en-US" sz="1400" dirty="0">
                <a:solidFill>
                  <a:schemeClr val="tx1"/>
                </a:solidFill>
              </a:rPr>
              <a:t>Picks the trace for you when the current span is sampled. Rate limited: kept at least 7 seconds, evicted after 70 (defaults).</a:t>
            </a:r>
            <a:endParaRPr lang="en-US" sz="1400" dirty="0"/>
          </a:p>
        </p:txBody>
      </p:sp>
      <p:sp>
        <p:nvSpPr>
          <p:cNvPr id="12" name="OpenTelemetry SDKs card"/>
          <p:cNvSpPr/>
          <p:nvPr/>
        </p:nvSpPr>
        <p:spPr>
          <a:xfrm>
            <a:off x="6126480" y="1234440"/>
            <a:ext cx="2560320" cy="2286000"/>
          </a:xfrm>
          <a:prstGeom prst="roundRect">
            <a:avLst>
              <a:gd name="adj" fmla="val 3200"/>
            </a:avLst>
          </a:prstGeom>
          <a:solidFill>
            <a:schemeClr val="bg2"/>
          </a:solidFill>
          <a:ln/>
          <a:effectLst>
            <a:outerShdw sx="100000" sy="100000" kx="0" ky="0" algn="bl" rotWithShape="0" blurRad="76200" dist="25400" dir="5400000">
              <a:srgbClr val="000000">
                <a:alpha val="12000"/>
              </a:srgbClr>
            </a:outerShdw>
          </a:effectLst>
        </p:spPr>
      </p:sp>
      <p:sp>
        <p:nvSpPr>
          <p:cNvPr id="13" name="Exemplar diamond"/>
          <p:cNvSpPr/>
          <p:nvPr/>
        </p:nvSpPr>
        <p:spPr>
          <a:xfrm>
            <a:off x="6300216" y="1435608"/>
            <a:ext cx="237744" cy="237744"/>
          </a:xfrm>
          <a:prstGeom prst="diamond">
            <a:avLst/>
          </a:prstGeom>
          <a:solidFill>
            <a:schemeClr val="accent3"/>
          </a:solidFill>
          <a:ln/>
        </p:spPr>
      </p:sp>
      <p:sp>
        <p:nvSpPr>
          <p:cNvPr id="14" name="Text 11"/>
          <p:cNvSpPr txBox="1"/>
          <p:nvPr/>
        </p:nvSpPr>
        <p:spPr>
          <a:xfrm>
            <a:off x="6675120" y="1389888"/>
            <a:ext cx="1920240"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OpenTelemetry SDKs</a:t>
            </a:r>
            <a:endParaRPr lang="en-US" sz="1600" dirty="0"/>
          </a:p>
        </p:txBody>
      </p:sp>
      <p:sp>
        <p:nvSpPr>
          <p:cNvPr id="15" name="Text 12"/>
          <p:cNvSpPr txBox="1"/>
          <p:nvPr/>
        </p:nvSpPr>
        <p:spPr>
          <a:xfrm>
            <a:off x="6327648" y="2011680"/>
            <a:ext cx="2194560" cy="1463040"/>
          </a:xfrm>
          <a:prstGeom prst="rect">
            <a:avLst/>
          </a:prstGeom>
          <a:noFill/>
          <a:ln/>
        </p:spPr>
        <p:txBody>
          <a:bodyPr wrap="square" lIns="0" tIns="0" rIns="0" bIns="0" rtlCol="0" anchor="t"/>
          <a:lstStyle/>
          <a:p>
            <a:pPr indent="0" marL="0">
              <a:buNone/>
            </a:pPr>
            <a:r>
              <a:rPr lang="en-US" sz="1400" dirty="0">
                <a:solidFill>
                  <a:schemeClr val="tx1"/>
                </a:solidFill>
              </a:rPr>
              <a:t>By default only measurements made inside a sampled span qualify. A small reservoir decides what is stored.</a:t>
            </a:r>
            <a:endParaRPr lang="en-US" sz="1400" dirty="0"/>
          </a:p>
        </p:txBody>
      </p:sp>
      <p:sp>
        <p:nvSpPr>
          <p:cNvPr id="16" name="Takeaway bar"/>
          <p:cNvSpPr/>
          <p:nvPr/>
        </p:nvSpPr>
        <p:spPr>
          <a:xfrm>
            <a:off x="457200" y="3703320"/>
            <a:ext cx="8229600" cy="777240"/>
          </a:xfrm>
          <a:prstGeom prst="roundRect">
            <a:avLst>
              <a:gd name="adj" fmla="val 9412"/>
            </a:avLst>
          </a:prstGeom>
          <a:solidFill>
            <a:schemeClr val="tx1"/>
          </a:solidFill>
          <a:ln/>
          <a:effectLst>
            <a:outerShdw sx="100000" sy="100000" kx="0" ky="0" algn="bl" rotWithShape="0" blurRad="76200" dist="25400" dir="5400000">
              <a:srgbClr val="000000">
                <a:alpha val="12000"/>
              </a:srgbClr>
            </a:outerShdw>
          </a:effectLst>
        </p:spPr>
      </p:sp>
      <p:sp>
        <p:nvSpPr>
          <p:cNvPr id="17" name="Text 14"/>
          <p:cNvSpPr txBox="1"/>
          <p:nvPr/>
        </p:nvSpPr>
        <p:spPr>
          <a:xfrm>
            <a:off x="685800" y="3794760"/>
            <a:ext cx="7772400" cy="594360"/>
          </a:xfrm>
          <a:prstGeom prst="rect">
            <a:avLst/>
          </a:prstGeom>
          <a:noFill/>
          <a:ln/>
        </p:spPr>
        <p:txBody>
          <a:bodyPr wrap="square" lIns="0" tIns="0" rIns="0" bIns="0" rtlCol="0" anchor="ctr"/>
          <a:lstStyle/>
          <a:p>
            <a:pPr indent="0" marL="0">
              <a:buNone/>
            </a:pPr>
            <a:r>
              <a:rPr lang="en-US" sz="1600" b="1" dirty="0">
                <a:solidFill>
                  <a:schemeClr val="bg1"/>
                </a:solidFill>
              </a:rPr>
              <a:t>An exemplar is a sample of requests. </a:t>
            </a:r>
            <a:pPr indent="0" marL="0">
              <a:buNone/>
            </a:pPr>
            <a:r>
              <a:rPr lang="en-US" sz="1600" dirty="0">
                <a:solidFill>
                  <a:schemeClr val="bg1"/>
                </a:solidFill>
              </a:rPr>
              <a:t>Not every request, and not necessarily the slowest one.</a:t>
            </a:r>
            <a:endParaRPr lang="en-US" sz="1600" dirty="0"/>
          </a:p>
        </p:txBody>
      </p:sp>
      <p:sp>
        <p:nvSpPr>
          <p:cNvPr id="18" name="Source note"/>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chemeClr val="tx2"/>
                </a:solidFill>
              </a:rPr>
              <a:t>Sources: github.com/prometheus/client_golang, client_java (tracing docs), client_python; opentelemetry.io/docs/specs/otel/metrics/sdk/</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Setup, part 1: get them in</a:t>
            </a:r>
            <a:endParaRPr lang="en-US" sz="3400" dirty="0"/>
          </a:p>
        </p:txBody>
      </p:sp>
      <p:sp>
        <p:nvSpPr>
          <p:cNvPr id="4" name="Setup row 1"/>
          <p:cNvSpPr/>
          <p:nvPr/>
        </p:nvSpPr>
        <p:spPr>
          <a:xfrm>
            <a:off x="457200" y="1188720"/>
            <a:ext cx="822960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5" name="Step 1"/>
          <p:cNvSpPr txBox="1"/>
          <p:nvPr/>
        </p:nvSpPr>
        <p:spPr>
          <a:xfrm>
            <a:off x="640080" y="1463040"/>
            <a:ext cx="457200" cy="45720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325880" y="1298448"/>
            <a:ext cx="72237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Your app exposes OpenMetrics with a trace ID</a:t>
            </a:r>
            <a:endParaRPr lang="en-US" sz="1600" dirty="0"/>
          </a:p>
        </p:txBody>
      </p:sp>
      <p:sp>
        <p:nvSpPr>
          <p:cNvPr id="7" name="Text 4"/>
          <p:cNvSpPr txBox="1"/>
          <p:nvPr/>
        </p:nvSpPr>
        <p:spPr>
          <a:xfrm>
            <a:off x="1325880" y="1609344"/>
            <a:ext cx="7223760" cy="548640"/>
          </a:xfrm>
          <a:prstGeom prst="rect">
            <a:avLst/>
          </a:prstGeom>
          <a:noFill/>
          <a:ln/>
        </p:spPr>
        <p:txBody>
          <a:bodyPr wrap="square" lIns="0" tIns="0" rIns="0" bIns="0" rtlCol="0" anchor="t"/>
          <a:lstStyle/>
          <a:p>
            <a:pPr indent="0" marL="0">
              <a:buNone/>
            </a:pPr>
            <a:r>
              <a:rPr lang="en-US" sz="1400" dirty="0">
                <a:solidFill>
                  <a:schemeClr val="tx1"/>
                </a:solidFill>
              </a:rPr>
              <a:t>Grafana Cloud docs: exemplars aren't supported in Prometheus format. The app must include the trace ID in its metric calls.</a:t>
            </a:r>
            <a:endParaRPr lang="en-US" sz="1400" dirty="0"/>
          </a:p>
        </p:txBody>
      </p:sp>
      <p:sp>
        <p:nvSpPr>
          <p:cNvPr id="8" name="Setup row 2"/>
          <p:cNvSpPr/>
          <p:nvPr/>
        </p:nvSpPr>
        <p:spPr>
          <a:xfrm>
            <a:off x="457200" y="2331720"/>
            <a:ext cx="822960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9" name="Step 2"/>
          <p:cNvSpPr txBox="1"/>
          <p:nvPr/>
        </p:nvSpPr>
        <p:spPr>
          <a:xfrm>
            <a:off x="640080" y="260604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1325880" y="2441448"/>
            <a:ext cx="72237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Prometheus: turn exemplar storage on</a:t>
            </a:r>
            <a:endParaRPr lang="en-US" sz="1600" dirty="0"/>
          </a:p>
        </p:txBody>
      </p:sp>
      <p:sp>
        <p:nvSpPr>
          <p:cNvPr id="11" name="Setting pill 2"/>
          <p:cNvSpPr txBox="1"/>
          <p:nvPr/>
        </p:nvSpPr>
        <p:spPr>
          <a:xfrm>
            <a:off x="1325880" y="2752344"/>
            <a:ext cx="4023360" cy="256032"/>
          </a:xfrm>
          <a:prstGeom prst="roundRect">
            <a:avLst>
              <a:gd name="adj" fmla="val 17857"/>
            </a:avLst>
          </a:prstGeom>
          <a:solidFill>
            <a:schemeClr val="tx1"/>
          </a:solidFill>
          <a:ln/>
        </p:spPr>
        <p:txBody>
          <a:bodyPr wrap="square" lIns="1016" tIns="1016" rIns="1016" bIns="1016" rtlCol="0" anchor="ctr"/>
          <a:lstStyle/>
          <a:p>
            <a:pPr algn="l" indent="0" marL="0">
              <a:buNone/>
            </a:pPr>
            <a:r>
              <a:rPr lang="en-US" sz="1200" dirty="0">
                <a:solidFill>
                  <a:schemeClr val="bg1"/>
                </a:solidFill>
                <a:latin typeface="Courier New" pitchFamily="34" charset="0"/>
                <a:ea typeface="Courier New" pitchFamily="34" charset="-122"/>
                <a:cs typeface="Courier New" pitchFamily="34" charset="-120"/>
              </a:rPr>
              <a:t>--enable-feature=exemplar-storage</a:t>
            </a:r>
            <a:endParaRPr lang="en-US" sz="1200" dirty="0"/>
          </a:p>
        </p:txBody>
      </p:sp>
      <p:sp>
        <p:nvSpPr>
          <p:cNvPr id="12" name="Text 9"/>
          <p:cNvSpPr txBox="1"/>
          <p:nvPr/>
        </p:nvSpPr>
        <p:spPr>
          <a:xfrm>
            <a:off x="5486400" y="2752344"/>
            <a:ext cx="3063240" cy="548640"/>
          </a:xfrm>
          <a:prstGeom prst="rect">
            <a:avLst/>
          </a:prstGeom>
          <a:noFill/>
          <a:ln/>
        </p:spPr>
        <p:txBody>
          <a:bodyPr wrap="square" lIns="0" tIns="0" rIns="0" bIns="0" rtlCol="0" anchor="t"/>
          <a:lstStyle/>
          <a:p>
            <a:pPr indent="0" marL="0">
              <a:buNone/>
            </a:pPr>
            <a:r>
              <a:rPr lang="en-US" sz="1400" dirty="0">
                <a:solidFill>
                  <a:schemeClr val="tx1"/>
                </a:solidFill>
              </a:rPr>
              <a:t>Off by default. The docs still call it experimental.</a:t>
            </a:r>
            <a:endParaRPr lang="en-US" sz="1400" dirty="0"/>
          </a:p>
        </p:txBody>
      </p:sp>
      <p:sp>
        <p:nvSpPr>
          <p:cNvPr id="13" name="Setup row 3"/>
          <p:cNvSpPr/>
          <p:nvPr/>
        </p:nvSpPr>
        <p:spPr>
          <a:xfrm>
            <a:off x="457200" y="3474720"/>
            <a:ext cx="822960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14" name="Step 3"/>
          <p:cNvSpPr txBox="1"/>
          <p:nvPr/>
        </p:nvSpPr>
        <p:spPr>
          <a:xfrm>
            <a:off x="640080" y="374904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1325880" y="3584448"/>
            <a:ext cx="72237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Prometheus: size the buffer (optional)</a:t>
            </a:r>
            <a:endParaRPr lang="en-US" sz="1600" dirty="0"/>
          </a:p>
        </p:txBody>
      </p:sp>
      <p:sp>
        <p:nvSpPr>
          <p:cNvPr id="16" name="Setting pill 3"/>
          <p:cNvSpPr txBox="1"/>
          <p:nvPr/>
        </p:nvSpPr>
        <p:spPr>
          <a:xfrm>
            <a:off x="1325880" y="3895344"/>
            <a:ext cx="4023360" cy="256032"/>
          </a:xfrm>
          <a:prstGeom prst="roundRect">
            <a:avLst>
              <a:gd name="adj" fmla="val 17857"/>
            </a:avLst>
          </a:prstGeom>
          <a:solidFill>
            <a:schemeClr val="tx1"/>
          </a:solidFill>
          <a:ln/>
        </p:spPr>
        <p:txBody>
          <a:bodyPr wrap="square" lIns="1016" tIns="1016" rIns="1016" bIns="1016" rtlCol="0" anchor="ctr"/>
          <a:lstStyle/>
          <a:p>
            <a:pPr algn="l" indent="0" marL="0">
              <a:buNone/>
            </a:pPr>
            <a:r>
              <a:rPr lang="en-US" sz="1200" dirty="0">
                <a:solidFill>
                  <a:schemeClr val="bg1"/>
                </a:solidFill>
                <a:latin typeface="Courier New" pitchFamily="34" charset="0"/>
                <a:ea typeface="Courier New" pitchFamily="34" charset="-122"/>
                <a:cs typeface="Courier New" pitchFamily="34" charset="-120"/>
              </a:rPr>
              <a:t>storage.exemplars.max_exemplars</a:t>
            </a:r>
            <a:endParaRPr lang="en-US" sz="1200" dirty="0"/>
          </a:p>
        </p:txBody>
      </p:sp>
      <p:sp>
        <p:nvSpPr>
          <p:cNvPr id="17" name="Text 14"/>
          <p:cNvSpPr txBox="1"/>
          <p:nvPr/>
        </p:nvSpPr>
        <p:spPr>
          <a:xfrm>
            <a:off x="5486400" y="3895344"/>
            <a:ext cx="3063240" cy="548640"/>
          </a:xfrm>
          <a:prstGeom prst="rect">
            <a:avLst/>
          </a:prstGeom>
          <a:noFill/>
          <a:ln/>
        </p:spPr>
        <p:txBody>
          <a:bodyPr wrap="square" lIns="0" tIns="0" rIns="0" bIns="0" rtlCol="0" anchor="t"/>
          <a:lstStyle/>
          <a:p>
            <a:pPr indent="0" marL="0">
              <a:buNone/>
            </a:pPr>
            <a:r>
              <a:rPr lang="en-US" sz="1400" dirty="0">
                <a:solidFill>
                  <a:schemeClr val="tx1"/>
                </a:solidFill>
              </a:rPr>
              <a:t>Default is 100000 exemplars, shared across all series.</a:t>
            </a:r>
            <a:endParaRPr lang="en-US" sz="1400" dirty="0"/>
          </a:p>
        </p:txBody>
      </p:sp>
      <p:sp>
        <p:nvSpPr>
          <p:cNvPr id="18" name="Source note"/>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chemeClr val="tx2"/>
                </a:solidFill>
              </a:rPr>
              <a:t>Sources: prometheus.io/docs/prometheus/latest/feature_flags/ and /configuration/configuration/; Grafana Cloud exemplars docs.</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Setup, part 2: send and show</a:t>
            </a:r>
            <a:endParaRPr lang="en-US" sz="3400" dirty="0"/>
          </a:p>
        </p:txBody>
      </p:sp>
      <p:sp>
        <p:nvSpPr>
          <p:cNvPr id="4" name="Setup row 4"/>
          <p:cNvSpPr/>
          <p:nvPr/>
        </p:nvSpPr>
        <p:spPr>
          <a:xfrm>
            <a:off x="457200" y="1188720"/>
            <a:ext cx="822960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5" name="Step 4"/>
          <p:cNvSpPr txBox="1"/>
          <p:nvPr/>
        </p:nvSpPr>
        <p:spPr>
          <a:xfrm>
            <a:off x="640080" y="146304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6" name="Text 3"/>
          <p:cNvSpPr txBox="1"/>
          <p:nvPr/>
        </p:nvSpPr>
        <p:spPr>
          <a:xfrm>
            <a:off x="1325880" y="1298448"/>
            <a:ext cx="72237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Remote write: send them on</a:t>
            </a:r>
            <a:endParaRPr lang="en-US" sz="1600" dirty="0"/>
          </a:p>
        </p:txBody>
      </p:sp>
      <p:sp>
        <p:nvSpPr>
          <p:cNvPr id="7" name="Setting pill 4"/>
          <p:cNvSpPr txBox="1"/>
          <p:nvPr/>
        </p:nvSpPr>
        <p:spPr>
          <a:xfrm>
            <a:off x="1325880" y="1609344"/>
            <a:ext cx="4023360" cy="256032"/>
          </a:xfrm>
          <a:prstGeom prst="roundRect">
            <a:avLst>
              <a:gd name="adj" fmla="val 17857"/>
            </a:avLst>
          </a:prstGeom>
          <a:solidFill>
            <a:schemeClr val="tx1"/>
          </a:solidFill>
          <a:ln/>
        </p:spPr>
        <p:txBody>
          <a:bodyPr wrap="square" lIns="1016" tIns="1016" rIns="1016" bIns="1016" rtlCol="0" anchor="ctr"/>
          <a:lstStyle/>
          <a:p>
            <a:pPr algn="l" indent="0" marL="0">
              <a:buNone/>
            </a:pPr>
            <a:r>
              <a:rPr lang="en-US" sz="1200" dirty="0">
                <a:solidFill>
                  <a:schemeClr val="bg1"/>
                </a:solidFill>
                <a:latin typeface="Courier New" pitchFamily="34" charset="0"/>
                <a:ea typeface="Courier New" pitchFamily="34" charset="-122"/>
                <a:cs typeface="Courier New" pitchFamily="34" charset="-120"/>
              </a:rPr>
              <a:t>send_exemplars: true</a:t>
            </a:r>
            <a:endParaRPr lang="en-US" sz="1200" dirty="0"/>
          </a:p>
        </p:txBody>
      </p:sp>
      <p:sp>
        <p:nvSpPr>
          <p:cNvPr id="8" name="Text 5"/>
          <p:cNvSpPr txBox="1"/>
          <p:nvPr/>
        </p:nvSpPr>
        <p:spPr>
          <a:xfrm>
            <a:off x="5486400" y="1609344"/>
            <a:ext cx="3063240" cy="548640"/>
          </a:xfrm>
          <a:prstGeom prst="rect">
            <a:avLst/>
          </a:prstGeom>
          <a:noFill/>
          <a:ln/>
        </p:spPr>
        <p:txBody>
          <a:bodyPr wrap="square" lIns="0" tIns="0" rIns="0" bIns="0" rtlCol="0" anchor="t"/>
          <a:lstStyle/>
          <a:p>
            <a:pPr indent="0" marL="0">
              <a:buNone/>
            </a:pPr>
            <a:r>
              <a:rPr lang="en-US" sz="1400" dirty="0">
                <a:solidFill>
                  <a:schemeClr val="tx1"/>
                </a:solidFill>
              </a:rPr>
              <a:t>Default is false in Prometheus and true in Alloy.</a:t>
            </a:r>
            <a:endParaRPr lang="en-US" sz="1400" dirty="0"/>
          </a:p>
        </p:txBody>
      </p:sp>
      <p:sp>
        <p:nvSpPr>
          <p:cNvPr id="9" name="Setup row 5"/>
          <p:cNvSpPr/>
          <p:nvPr/>
        </p:nvSpPr>
        <p:spPr>
          <a:xfrm>
            <a:off x="457200" y="2331720"/>
            <a:ext cx="822960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10" name="Step 5"/>
          <p:cNvSpPr txBox="1"/>
          <p:nvPr/>
        </p:nvSpPr>
        <p:spPr>
          <a:xfrm>
            <a:off x="640080" y="2606040"/>
            <a:ext cx="457200" cy="45720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1" name="Text 8"/>
          <p:cNvSpPr txBox="1"/>
          <p:nvPr/>
        </p:nvSpPr>
        <p:spPr>
          <a:xfrm>
            <a:off x="1325880" y="2441448"/>
            <a:ext cx="72237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Mimir: allow them per tenant</a:t>
            </a:r>
            <a:endParaRPr lang="en-US" sz="1600" dirty="0"/>
          </a:p>
        </p:txBody>
      </p:sp>
      <p:sp>
        <p:nvSpPr>
          <p:cNvPr id="12" name="Setting pill 5"/>
          <p:cNvSpPr txBox="1"/>
          <p:nvPr/>
        </p:nvSpPr>
        <p:spPr>
          <a:xfrm>
            <a:off x="1325880" y="2752344"/>
            <a:ext cx="4023360" cy="256032"/>
          </a:xfrm>
          <a:prstGeom prst="roundRect">
            <a:avLst>
              <a:gd name="adj" fmla="val 17857"/>
            </a:avLst>
          </a:prstGeom>
          <a:solidFill>
            <a:schemeClr val="tx1"/>
          </a:solidFill>
          <a:ln/>
        </p:spPr>
        <p:txBody>
          <a:bodyPr wrap="square" lIns="1016" tIns="1016" rIns="1016" bIns="1016" rtlCol="0" anchor="ctr"/>
          <a:lstStyle/>
          <a:p>
            <a:pPr algn="l" indent="0" marL="0">
              <a:buNone/>
            </a:pPr>
            <a:r>
              <a:rPr lang="en-US" sz="1200" dirty="0">
                <a:solidFill>
                  <a:schemeClr val="bg1"/>
                </a:solidFill>
                <a:latin typeface="Courier New" pitchFamily="34" charset="0"/>
                <a:ea typeface="Courier New" pitchFamily="34" charset="-122"/>
                <a:cs typeface="Courier New" pitchFamily="34" charset="-120"/>
              </a:rPr>
              <a:t>max_global_exemplars_per_user</a:t>
            </a:r>
            <a:endParaRPr lang="en-US" sz="1200" dirty="0"/>
          </a:p>
        </p:txBody>
      </p:sp>
      <p:sp>
        <p:nvSpPr>
          <p:cNvPr id="13" name="Text 10"/>
          <p:cNvSpPr txBox="1"/>
          <p:nvPr/>
        </p:nvSpPr>
        <p:spPr>
          <a:xfrm>
            <a:off x="5486400" y="2752344"/>
            <a:ext cx="3063240" cy="548640"/>
          </a:xfrm>
          <a:prstGeom prst="rect">
            <a:avLst/>
          </a:prstGeom>
          <a:noFill/>
          <a:ln/>
        </p:spPr>
        <p:txBody>
          <a:bodyPr wrap="square" lIns="0" tIns="0" rIns="0" bIns="0" rtlCol="0" anchor="t"/>
          <a:lstStyle/>
          <a:p>
            <a:pPr indent="0" marL="0">
              <a:buNone/>
            </a:pPr>
            <a:r>
              <a:rPr lang="en-US" sz="1400" dirty="0">
                <a:solidFill>
                  <a:schemeClr val="tx1"/>
                </a:solidFill>
              </a:rPr>
              <a:t>Default 0 means off. Mimir suggests starting near 100,000.</a:t>
            </a:r>
            <a:endParaRPr lang="en-US" sz="1400" dirty="0"/>
          </a:p>
        </p:txBody>
      </p:sp>
      <p:sp>
        <p:nvSpPr>
          <p:cNvPr id="14" name="Setup row 6"/>
          <p:cNvSpPr/>
          <p:nvPr/>
        </p:nvSpPr>
        <p:spPr>
          <a:xfrm>
            <a:off x="457200" y="3474720"/>
            <a:ext cx="8229600" cy="1005840"/>
          </a:xfrm>
          <a:prstGeom prst="roundRect">
            <a:avLst>
              <a:gd name="adj" fmla="val 7273"/>
            </a:avLst>
          </a:prstGeom>
          <a:solidFill>
            <a:schemeClr val="bg2"/>
          </a:solidFill>
          <a:ln/>
          <a:effectLst>
            <a:outerShdw sx="100000" sy="100000" kx="0" ky="0" algn="bl" rotWithShape="0" blurRad="76200" dist="25400" dir="5400000">
              <a:srgbClr val="000000">
                <a:alpha val="12000"/>
              </a:srgbClr>
            </a:outerShdw>
          </a:effectLst>
        </p:spPr>
      </p:sp>
      <p:sp>
        <p:nvSpPr>
          <p:cNvPr id="15" name="Step 6"/>
          <p:cNvSpPr txBox="1"/>
          <p:nvPr/>
        </p:nvSpPr>
        <p:spPr>
          <a:xfrm>
            <a:off x="640080" y="3749040"/>
            <a:ext cx="457200" cy="45720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6" name="Text 13"/>
          <p:cNvSpPr txBox="1"/>
          <p:nvPr/>
        </p:nvSpPr>
        <p:spPr>
          <a:xfrm>
            <a:off x="1325880" y="3584448"/>
            <a:ext cx="7223760" cy="27432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Grafana: link the data source to Tempo</a:t>
            </a:r>
            <a:endParaRPr lang="en-US" sz="1600" dirty="0"/>
          </a:p>
        </p:txBody>
      </p:sp>
      <p:sp>
        <p:nvSpPr>
          <p:cNvPr id="17" name="Text 14"/>
          <p:cNvSpPr txBox="1"/>
          <p:nvPr/>
        </p:nvSpPr>
        <p:spPr>
          <a:xfrm>
            <a:off x="1325880" y="3895344"/>
            <a:ext cx="7223760" cy="548640"/>
          </a:xfrm>
          <a:prstGeom prst="rect">
            <a:avLst/>
          </a:prstGeom>
          <a:noFill/>
          <a:ln/>
        </p:spPr>
        <p:txBody>
          <a:bodyPr wrap="square" lIns="0" tIns="0" rIns="0" bIns="0" rtlCol="0" anchor="t"/>
          <a:lstStyle/>
          <a:p>
            <a:pPr indent="0" marL="0">
              <a:buNone/>
            </a:pPr>
            <a:r>
              <a:rPr lang="en-US" sz="1400" dirty="0">
                <a:solidFill>
                  <a:schemeClr val="tx1"/>
                </a:solidFill>
              </a:rPr>
              <a:t>Prometheus data source, Exemplars section: turn on Internal link, pick Tempo. The Label name must match the app (Grafana default: traceID). Then turn on Exemplars in the panel query.</a:t>
            </a:r>
            <a:endParaRPr lang="en-US" sz="1400" dirty="0"/>
          </a:p>
        </p:txBody>
      </p:sp>
      <p:sp>
        <p:nvSpPr>
          <p:cNvPr id="18" name="Source note"/>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chemeClr val="tx2"/>
                </a:solidFill>
              </a:rPr>
              <a:t>Sources: Grafana docs (datasources/prometheus/configure), Mimir docs (use-exemplars), Alloy docs (prometheus.remote_write), Tempo docs.</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Where they live, what they cost</a:t>
            </a:r>
            <a:endParaRPr lang="en-US" sz="3400" dirty="0"/>
          </a:p>
        </p:txBody>
      </p:sp>
      <p:sp>
        <p:nvSpPr>
          <p:cNvPr id="4" name="Stat card 1"/>
          <p:cNvSpPr/>
          <p:nvPr/>
        </p:nvSpPr>
        <p:spPr>
          <a:xfrm>
            <a:off x="457200" y="1234440"/>
            <a:ext cx="2560320" cy="1828800"/>
          </a:xfrm>
          <a:prstGeom prst="roundRect">
            <a:avLst>
              <a:gd name="adj" fmla="val 4000"/>
            </a:avLst>
          </a:prstGeom>
          <a:solidFill>
            <a:schemeClr val="bg2"/>
          </a:solidFill>
          <a:ln/>
          <a:effectLst>
            <a:outerShdw sx="100000" sy="100000" kx="0" ky="0" algn="bl" rotWithShape="0" blurRad="76200" dist="25400" dir="5400000">
              <a:srgbClr val="000000">
                <a:alpha val="12000"/>
              </a:srgbClr>
            </a:outerShdw>
          </a:effectLst>
        </p:spPr>
      </p:sp>
      <p:sp>
        <p:nvSpPr>
          <p:cNvPr id="5" name="Stat dot"/>
          <p:cNvSpPr/>
          <p:nvPr/>
        </p:nvSpPr>
        <p:spPr>
          <a:xfrm>
            <a:off x="658368" y="1417320"/>
            <a:ext cx="201168" cy="201168"/>
          </a:xfrm>
          <a:prstGeom prst="ellipse">
            <a:avLst/>
          </a:prstGeom>
          <a:solidFill>
            <a:schemeClr val="accent2"/>
          </a:solidFill>
          <a:ln/>
        </p:spPr>
      </p:sp>
      <p:sp>
        <p:nvSpPr>
          <p:cNvPr id="6" name="Text 3"/>
          <p:cNvSpPr txBox="1"/>
          <p:nvPr/>
        </p:nvSpPr>
        <p:spPr>
          <a:xfrm>
            <a:off x="640080" y="1645920"/>
            <a:ext cx="2194560"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100,000</a:t>
            </a:r>
            <a:endParaRPr lang="en-US" sz="3400" dirty="0"/>
          </a:p>
        </p:txBody>
      </p:sp>
      <p:sp>
        <p:nvSpPr>
          <p:cNvPr id="7" name="Text 4"/>
          <p:cNvSpPr txBox="1"/>
          <p:nvPr/>
        </p:nvSpPr>
        <p:spPr>
          <a:xfrm>
            <a:off x="640080" y="2331720"/>
            <a:ext cx="2240280" cy="685800"/>
          </a:xfrm>
          <a:prstGeom prst="rect">
            <a:avLst/>
          </a:prstGeom>
          <a:noFill/>
          <a:ln/>
        </p:spPr>
        <p:txBody>
          <a:bodyPr wrap="square" lIns="0" tIns="0" rIns="0" bIns="0" rtlCol="0" anchor="t"/>
          <a:lstStyle/>
          <a:p>
            <a:pPr indent="0" marL="0">
              <a:buNone/>
            </a:pPr>
            <a:r>
              <a:rPr lang="en-US" sz="1300" dirty="0">
                <a:solidFill>
                  <a:schemeClr val="tx1"/>
                </a:solidFill>
              </a:rPr>
              <a:t>exemplars in the default buffer (max_exemplars)</a:t>
            </a:r>
            <a:endParaRPr lang="en-US" sz="1300" dirty="0"/>
          </a:p>
        </p:txBody>
      </p:sp>
      <p:sp>
        <p:nvSpPr>
          <p:cNvPr id="8" name="Stat card 2"/>
          <p:cNvSpPr/>
          <p:nvPr/>
        </p:nvSpPr>
        <p:spPr>
          <a:xfrm>
            <a:off x="3291840" y="1234440"/>
            <a:ext cx="2560320" cy="1828800"/>
          </a:xfrm>
          <a:prstGeom prst="roundRect">
            <a:avLst>
              <a:gd name="adj" fmla="val 4000"/>
            </a:avLst>
          </a:prstGeom>
          <a:solidFill>
            <a:schemeClr val="bg2"/>
          </a:solidFill>
          <a:ln/>
          <a:effectLst>
            <a:outerShdw sx="100000" sy="100000" kx="0" ky="0" algn="bl" rotWithShape="0" blurRad="76200" dist="25400" dir="5400000">
              <a:srgbClr val="000000">
                <a:alpha val="12000"/>
              </a:srgbClr>
            </a:outerShdw>
          </a:effectLst>
        </p:spPr>
      </p:sp>
      <p:sp>
        <p:nvSpPr>
          <p:cNvPr id="9" name="Stat dot"/>
          <p:cNvSpPr/>
          <p:nvPr/>
        </p:nvSpPr>
        <p:spPr>
          <a:xfrm>
            <a:off x="3493008" y="1417320"/>
            <a:ext cx="201168" cy="201168"/>
          </a:xfrm>
          <a:prstGeom prst="ellipse">
            <a:avLst/>
          </a:prstGeom>
          <a:solidFill>
            <a:schemeClr val="accent1"/>
          </a:solidFill>
          <a:ln/>
        </p:spPr>
      </p:sp>
      <p:sp>
        <p:nvSpPr>
          <p:cNvPr id="10" name="Text 7"/>
          <p:cNvSpPr txBox="1"/>
          <p:nvPr/>
        </p:nvSpPr>
        <p:spPr>
          <a:xfrm>
            <a:off x="3474720" y="1645920"/>
            <a:ext cx="2194560"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~100 bytes</a:t>
            </a:r>
            <a:endParaRPr lang="en-US" sz="3400" dirty="0"/>
          </a:p>
        </p:txBody>
      </p:sp>
      <p:sp>
        <p:nvSpPr>
          <p:cNvPr id="11" name="Text 8"/>
          <p:cNvSpPr txBox="1"/>
          <p:nvPr/>
        </p:nvSpPr>
        <p:spPr>
          <a:xfrm>
            <a:off x="3474720" y="2331720"/>
            <a:ext cx="2240280" cy="685800"/>
          </a:xfrm>
          <a:prstGeom prst="rect">
            <a:avLst/>
          </a:prstGeom>
          <a:noFill/>
          <a:ln/>
        </p:spPr>
        <p:txBody>
          <a:bodyPr wrap="square" lIns="0" tIns="0" rIns="0" bIns="0" rtlCol="0" anchor="t"/>
          <a:lstStyle/>
          <a:p>
            <a:pPr indent="0" marL="0">
              <a:buNone/>
            </a:pPr>
            <a:r>
              <a:rPr lang="en-US" sz="1300" dirty="0">
                <a:solidFill>
                  <a:schemeClr val="tx1"/>
                </a:solidFill>
              </a:rPr>
              <a:t>of memory for a minimal exemplar that holds only a trace ID</a:t>
            </a:r>
            <a:endParaRPr lang="en-US" sz="1300" dirty="0"/>
          </a:p>
        </p:txBody>
      </p:sp>
      <p:sp>
        <p:nvSpPr>
          <p:cNvPr id="12" name="Stat card 3"/>
          <p:cNvSpPr/>
          <p:nvPr/>
        </p:nvSpPr>
        <p:spPr>
          <a:xfrm>
            <a:off x="6126480" y="1234440"/>
            <a:ext cx="2560320" cy="1828800"/>
          </a:xfrm>
          <a:prstGeom prst="roundRect">
            <a:avLst>
              <a:gd name="adj" fmla="val 4000"/>
            </a:avLst>
          </a:prstGeom>
          <a:solidFill>
            <a:schemeClr val="bg2"/>
          </a:solidFill>
          <a:ln/>
          <a:effectLst>
            <a:outerShdw sx="100000" sy="100000" kx="0" ky="0" algn="bl" rotWithShape="0" blurRad="76200" dist="25400" dir="5400000">
              <a:srgbClr val="000000">
                <a:alpha val="12000"/>
              </a:srgbClr>
            </a:outerShdw>
          </a:effectLst>
        </p:spPr>
      </p:sp>
      <p:sp>
        <p:nvSpPr>
          <p:cNvPr id="13" name="Stat dot"/>
          <p:cNvSpPr/>
          <p:nvPr/>
        </p:nvSpPr>
        <p:spPr>
          <a:xfrm>
            <a:off x="6327648" y="1417320"/>
            <a:ext cx="201168" cy="201168"/>
          </a:xfrm>
          <a:prstGeom prst="ellipse">
            <a:avLst/>
          </a:prstGeom>
          <a:solidFill>
            <a:schemeClr val="accent3"/>
          </a:solidFill>
          <a:ln/>
        </p:spPr>
      </p:sp>
      <p:sp>
        <p:nvSpPr>
          <p:cNvPr id="14" name="Text 11"/>
          <p:cNvSpPr txBox="1"/>
          <p:nvPr/>
        </p:nvSpPr>
        <p:spPr>
          <a:xfrm>
            <a:off x="6309360" y="1645920"/>
            <a:ext cx="2194560" cy="640080"/>
          </a:xfrm>
          <a:prstGeom prst="rect">
            <a:avLst/>
          </a:prstGeom>
          <a:noFill/>
          <a:ln/>
        </p:spPr>
        <p:txBody>
          <a:bodyPr wrap="square" lIns="0" tIns="0" rIns="0" bIns="0" rtlCol="0" anchor="t"/>
          <a:lstStyle/>
          <a:p>
            <a:pPr indent="0" marL="0">
              <a:buNone/>
            </a:pPr>
            <a:r>
              <a:rPr lang="en-US" sz="3400" b="1" dirty="0">
                <a:solidFill>
                  <a:schemeClr val="tx1"/>
                </a:solidFill>
                <a:latin typeface="Cambria" pitchFamily="34" charset="0"/>
                <a:ea typeface="Cambria" pitchFamily="34" charset="-122"/>
                <a:cs typeface="Cambria" pitchFamily="34" charset="-120"/>
              </a:rPr>
              <a:t>128</a:t>
            </a:r>
            <a:endParaRPr lang="en-US" sz="3400" dirty="0"/>
          </a:p>
        </p:txBody>
      </p:sp>
      <p:sp>
        <p:nvSpPr>
          <p:cNvPr id="15" name="Text 12"/>
          <p:cNvSpPr txBox="1"/>
          <p:nvPr/>
        </p:nvSpPr>
        <p:spPr>
          <a:xfrm>
            <a:off x="6309360" y="2331720"/>
            <a:ext cx="2240280" cy="685800"/>
          </a:xfrm>
          <a:prstGeom prst="rect">
            <a:avLst/>
          </a:prstGeom>
          <a:noFill/>
          <a:ln/>
        </p:spPr>
        <p:txBody>
          <a:bodyPr wrap="square" lIns="0" tIns="0" rIns="0" bIns="0" rtlCol="0" anchor="t"/>
          <a:lstStyle/>
          <a:p>
            <a:pPr indent="0" marL="0">
              <a:buNone/>
            </a:pPr>
            <a:r>
              <a:rPr lang="en-US" sz="1300" dirty="0">
                <a:solidFill>
                  <a:schemeClr val="tx1"/>
                </a:solidFill>
              </a:rPr>
              <a:t>characters at most for exemplar labels, names and values together (OpenMetrics 1.0)</a:t>
            </a:r>
            <a:endParaRPr lang="en-US" sz="1300" dirty="0"/>
          </a:p>
        </p:txBody>
      </p:sp>
      <p:sp>
        <p:nvSpPr>
          <p:cNvPr id="16" name="Text 13"/>
          <p:cNvSpPr txBox="1"/>
          <p:nvPr/>
        </p:nvSpPr>
        <p:spPr>
          <a:xfrm>
            <a:off x="457200" y="3291840"/>
            <a:ext cx="8229600" cy="128016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One fixed-size circular buffer in memory, shared by all series. Exemplars are also written to the WAL.</a:t>
            </a:r>
            <a:endParaRPr lang="en-US" sz="1400" dirty="0"/>
          </a:p>
          <a:p>
            <a:pPr indent="0" marL="0">
              <a:spcAft>
                <a:spcPts val="600"/>
              </a:spcAft>
              <a:buNone/>
            </a:pPr>
            <a:r>
              <a:rPr lang="en-US" sz="1400" dirty="0">
                <a:solidFill>
                  <a:schemeClr val="tx1"/>
                </a:solidFill>
              </a:rPr>
              <a:t>They keep trace IDs out of labels, so they add no new time series.</a:t>
            </a:r>
            <a:endParaRPr lang="en-US" sz="1400" dirty="0"/>
          </a:p>
          <a:p>
            <a:pPr indent="0" marL="0">
              <a:buNone/>
            </a:pPr>
            <a:r>
              <a:rPr lang="en-US" sz="1400" b="1" dirty="0">
                <a:solidFill>
                  <a:schemeClr val="tx1"/>
                </a:solidFill>
              </a:rPr>
              <a:t>No exemplar retention period is documented. Do not promise days or months.</a:t>
            </a:r>
            <a:endParaRPr lang="en-US" sz="1400" dirty="0"/>
          </a:p>
        </p:txBody>
      </p:sp>
      <p:sp>
        <p:nvSpPr>
          <p:cNvPr id="17" name="Source note"/>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chemeClr val="tx2"/>
                </a:solidFill>
              </a:rPr>
              <a:t>Sources: Prometheus feature flags docs; OpenMetrics spec; dash0.com/guides/opentelemetry-exemplars.</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Limits to know about</a:t>
            </a:r>
            <a:endParaRPr lang="en-US" sz="3400" dirty="0"/>
          </a:p>
        </p:txBody>
      </p:sp>
      <p:sp>
        <p:nvSpPr>
          <p:cNvPr id="4" name="Still experimental card"/>
          <p:cNvSpPr/>
          <p:nvPr/>
        </p:nvSpPr>
        <p:spPr>
          <a:xfrm>
            <a:off x="457200" y="1188720"/>
            <a:ext cx="2560320" cy="1600200"/>
          </a:xfrm>
          <a:prstGeom prst="roundRect">
            <a:avLst>
              <a:gd name="adj" fmla="val 4571"/>
            </a:avLst>
          </a:prstGeom>
          <a:solidFill>
            <a:schemeClr val="bg2"/>
          </a:solidFill>
          <a:ln/>
          <a:effectLst>
            <a:outerShdw sx="100000" sy="100000" kx="0" ky="0" algn="bl" rotWithShape="0" blurRad="76200" dist="25400" dir="5400000">
              <a:srgbClr val="000000">
                <a:alpha val="12000"/>
              </a:srgbClr>
            </a:outerShdw>
          </a:effectLst>
        </p:spPr>
      </p:sp>
      <p:sp>
        <p:nvSpPr>
          <p:cNvPr id="5" name="Exemplar diamond"/>
          <p:cNvSpPr/>
          <p:nvPr/>
        </p:nvSpPr>
        <p:spPr>
          <a:xfrm>
            <a:off x="630936" y="1389888"/>
            <a:ext cx="237744" cy="237744"/>
          </a:xfrm>
          <a:prstGeom prst="diamond">
            <a:avLst/>
          </a:prstGeom>
          <a:solidFill>
            <a:schemeClr val="accent4"/>
          </a:solidFill>
          <a:ln/>
        </p:spPr>
      </p:sp>
      <p:sp>
        <p:nvSpPr>
          <p:cNvPr id="6" name="Text 3"/>
          <p:cNvSpPr txBox="1"/>
          <p:nvPr/>
        </p:nvSpPr>
        <p:spPr>
          <a:xfrm>
            <a:off x="1005840" y="1344168"/>
            <a:ext cx="1920240" cy="329184"/>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Still experimental</a:t>
            </a:r>
            <a:endParaRPr lang="en-US" sz="1500" dirty="0"/>
          </a:p>
        </p:txBody>
      </p:sp>
      <p:sp>
        <p:nvSpPr>
          <p:cNvPr id="7" name="Text 4"/>
          <p:cNvSpPr txBox="1"/>
          <p:nvPr/>
        </p:nvSpPr>
        <p:spPr>
          <a:xfrm>
            <a:off x="658368" y="1874520"/>
            <a:ext cx="2194560" cy="868680"/>
          </a:xfrm>
          <a:prstGeom prst="rect">
            <a:avLst/>
          </a:prstGeom>
          <a:noFill/>
          <a:ln/>
        </p:spPr>
        <p:txBody>
          <a:bodyPr wrap="square" lIns="0" tIns="0" rIns="0" bIns="0" rtlCol="0" anchor="t"/>
          <a:lstStyle/>
          <a:p>
            <a:pPr indent="0" marL="0">
              <a:buNone/>
            </a:pPr>
            <a:r>
              <a:rPr lang="en-US" sz="1400" dirty="0">
                <a:solidFill>
                  <a:schemeClr val="tx1"/>
                </a:solidFill>
              </a:rPr>
              <a:t>Exemplar storage is still a feature flag in Prometheus 3.15.0.</a:t>
            </a:r>
            <a:endParaRPr lang="en-US" sz="1400" dirty="0"/>
          </a:p>
        </p:txBody>
      </p:sp>
      <p:sp>
        <p:nvSpPr>
          <p:cNvPr id="8" name="The trace may be gone card"/>
          <p:cNvSpPr/>
          <p:nvPr/>
        </p:nvSpPr>
        <p:spPr>
          <a:xfrm>
            <a:off x="3291840" y="1188720"/>
            <a:ext cx="2560320" cy="1600200"/>
          </a:xfrm>
          <a:prstGeom prst="roundRect">
            <a:avLst>
              <a:gd name="adj" fmla="val 4571"/>
            </a:avLst>
          </a:prstGeom>
          <a:solidFill>
            <a:schemeClr val="bg2"/>
          </a:solidFill>
          <a:ln/>
          <a:effectLst>
            <a:outerShdw sx="100000" sy="100000" kx="0" ky="0" algn="bl" rotWithShape="0" blurRad="76200" dist="25400" dir="5400000">
              <a:srgbClr val="000000">
                <a:alpha val="12000"/>
              </a:srgbClr>
            </a:outerShdw>
          </a:effectLst>
        </p:spPr>
      </p:sp>
      <p:sp>
        <p:nvSpPr>
          <p:cNvPr id="9" name="Exemplar diamond"/>
          <p:cNvSpPr/>
          <p:nvPr/>
        </p:nvSpPr>
        <p:spPr>
          <a:xfrm>
            <a:off x="3465576" y="1389888"/>
            <a:ext cx="237744" cy="237744"/>
          </a:xfrm>
          <a:prstGeom prst="diamond">
            <a:avLst/>
          </a:prstGeom>
          <a:solidFill>
            <a:schemeClr val="accent4"/>
          </a:solidFill>
          <a:ln/>
        </p:spPr>
      </p:sp>
      <p:sp>
        <p:nvSpPr>
          <p:cNvPr id="10" name="Text 7"/>
          <p:cNvSpPr txBox="1"/>
          <p:nvPr/>
        </p:nvSpPr>
        <p:spPr>
          <a:xfrm>
            <a:off x="3840480" y="1344168"/>
            <a:ext cx="1920240" cy="329184"/>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The trace may be gone</a:t>
            </a:r>
            <a:endParaRPr lang="en-US" sz="1500" dirty="0"/>
          </a:p>
        </p:txBody>
      </p:sp>
      <p:sp>
        <p:nvSpPr>
          <p:cNvPr id="11" name="Text 8"/>
          <p:cNvSpPr txBox="1"/>
          <p:nvPr/>
        </p:nvSpPr>
        <p:spPr>
          <a:xfrm>
            <a:off x="3493008" y="1874520"/>
            <a:ext cx="2194560" cy="868680"/>
          </a:xfrm>
          <a:prstGeom prst="rect">
            <a:avLst/>
          </a:prstGeom>
          <a:noFill/>
          <a:ln/>
        </p:spPr>
        <p:txBody>
          <a:bodyPr wrap="square" lIns="0" tIns="0" rIns="0" bIns="0" rtlCol="0" anchor="t"/>
          <a:lstStyle/>
          <a:p>
            <a:pPr indent="0" marL="0">
              <a:buNone/>
            </a:pPr>
            <a:r>
              <a:rPr lang="en-US" sz="1400" dirty="0">
                <a:solidFill>
                  <a:schemeClr val="tx1"/>
                </a:solidFill>
              </a:rPr>
              <a:t>Exemplars are made before tail sampling, so a clicked trace can be missing.</a:t>
            </a:r>
            <a:endParaRPr lang="en-US" sz="1400" dirty="0"/>
          </a:p>
        </p:txBody>
      </p:sp>
      <p:sp>
        <p:nvSpPr>
          <p:cNvPr id="12" name="The app must opt in card"/>
          <p:cNvSpPr/>
          <p:nvPr/>
        </p:nvSpPr>
        <p:spPr>
          <a:xfrm>
            <a:off x="6126480" y="1188720"/>
            <a:ext cx="2560320" cy="1600200"/>
          </a:xfrm>
          <a:prstGeom prst="roundRect">
            <a:avLst>
              <a:gd name="adj" fmla="val 4571"/>
            </a:avLst>
          </a:prstGeom>
          <a:solidFill>
            <a:schemeClr val="bg2"/>
          </a:solidFill>
          <a:ln/>
          <a:effectLst>
            <a:outerShdw sx="100000" sy="100000" kx="0" ky="0" algn="bl" rotWithShape="0" blurRad="76200" dist="25400" dir="5400000">
              <a:srgbClr val="000000">
                <a:alpha val="12000"/>
              </a:srgbClr>
            </a:outerShdw>
          </a:effectLst>
        </p:spPr>
      </p:sp>
      <p:sp>
        <p:nvSpPr>
          <p:cNvPr id="13" name="Exemplar diamond"/>
          <p:cNvSpPr/>
          <p:nvPr/>
        </p:nvSpPr>
        <p:spPr>
          <a:xfrm>
            <a:off x="6300216" y="1389888"/>
            <a:ext cx="237744" cy="237744"/>
          </a:xfrm>
          <a:prstGeom prst="diamond">
            <a:avLst/>
          </a:prstGeom>
          <a:solidFill>
            <a:schemeClr val="accent1"/>
          </a:solidFill>
          <a:ln/>
        </p:spPr>
      </p:sp>
      <p:sp>
        <p:nvSpPr>
          <p:cNvPr id="14" name="Text 11"/>
          <p:cNvSpPr txBox="1"/>
          <p:nvPr/>
        </p:nvSpPr>
        <p:spPr>
          <a:xfrm>
            <a:off x="6675120" y="1344168"/>
            <a:ext cx="1920240" cy="329184"/>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The app must opt in</a:t>
            </a:r>
            <a:endParaRPr lang="en-US" sz="1500" dirty="0"/>
          </a:p>
        </p:txBody>
      </p:sp>
      <p:sp>
        <p:nvSpPr>
          <p:cNvPr id="15" name="Text 12"/>
          <p:cNvSpPr txBox="1"/>
          <p:nvPr/>
        </p:nvSpPr>
        <p:spPr>
          <a:xfrm>
            <a:off x="6327648" y="1874520"/>
            <a:ext cx="2194560" cy="868680"/>
          </a:xfrm>
          <a:prstGeom prst="rect">
            <a:avLst/>
          </a:prstGeom>
          <a:noFill/>
          <a:ln/>
        </p:spPr>
        <p:txBody>
          <a:bodyPr wrap="square" lIns="0" tIns="0" rIns="0" bIns="0" rtlCol="0" anchor="t"/>
          <a:lstStyle/>
          <a:p>
            <a:pPr indent="0" marL="0">
              <a:buNone/>
            </a:pPr>
            <a:r>
              <a:rPr lang="en-US" sz="1400" dirty="0">
                <a:solidFill>
                  <a:schemeClr val="tx1"/>
                </a:solidFill>
              </a:rPr>
              <a:t>Someone has to attach trace IDs in code or through an SDK.</a:t>
            </a:r>
            <a:endParaRPr lang="en-US" sz="1400" dirty="0"/>
          </a:p>
        </p:txBody>
      </p:sp>
      <p:sp>
        <p:nvSpPr>
          <p:cNvPr id="16" name="View them in Grafana card"/>
          <p:cNvSpPr/>
          <p:nvPr/>
        </p:nvSpPr>
        <p:spPr>
          <a:xfrm>
            <a:off x="457200" y="2926080"/>
            <a:ext cx="2560320" cy="1600200"/>
          </a:xfrm>
          <a:prstGeom prst="roundRect">
            <a:avLst>
              <a:gd name="adj" fmla="val 4571"/>
            </a:avLst>
          </a:prstGeom>
          <a:solidFill>
            <a:schemeClr val="bg2"/>
          </a:solidFill>
          <a:ln/>
          <a:effectLst>
            <a:outerShdw sx="100000" sy="100000" kx="0" ky="0" algn="bl" rotWithShape="0" blurRad="76200" dist="25400" dir="5400000">
              <a:srgbClr val="000000">
                <a:alpha val="12000"/>
              </a:srgbClr>
            </a:outerShdw>
          </a:effectLst>
        </p:spPr>
      </p:sp>
      <p:sp>
        <p:nvSpPr>
          <p:cNvPr id="17" name="Exemplar diamond"/>
          <p:cNvSpPr/>
          <p:nvPr/>
        </p:nvSpPr>
        <p:spPr>
          <a:xfrm>
            <a:off x="630936" y="3127248"/>
            <a:ext cx="237744" cy="237744"/>
          </a:xfrm>
          <a:prstGeom prst="diamond">
            <a:avLst/>
          </a:prstGeom>
          <a:solidFill>
            <a:schemeClr val="accent1"/>
          </a:solidFill>
          <a:ln/>
        </p:spPr>
      </p:sp>
      <p:sp>
        <p:nvSpPr>
          <p:cNvPr id="18" name="Text 15"/>
          <p:cNvSpPr txBox="1"/>
          <p:nvPr/>
        </p:nvSpPr>
        <p:spPr>
          <a:xfrm>
            <a:off x="1005840" y="3081528"/>
            <a:ext cx="1920240" cy="329184"/>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View them in Grafana</a:t>
            </a:r>
            <a:endParaRPr lang="en-US" sz="1500" dirty="0"/>
          </a:p>
        </p:txBody>
      </p:sp>
      <p:sp>
        <p:nvSpPr>
          <p:cNvPr id="19" name="Text 16"/>
          <p:cNvSpPr txBox="1"/>
          <p:nvPr/>
        </p:nvSpPr>
        <p:spPr>
          <a:xfrm>
            <a:off x="658368" y="3611880"/>
            <a:ext cx="2194560" cy="868680"/>
          </a:xfrm>
          <a:prstGeom prst="rect">
            <a:avLst/>
          </a:prstGeom>
          <a:noFill/>
          <a:ln/>
        </p:spPr>
        <p:txBody>
          <a:bodyPr wrap="square" lIns="0" tIns="0" rIns="0" bIns="0" rtlCol="0" anchor="t"/>
          <a:lstStyle/>
          <a:p>
            <a:pPr indent="0" marL="0">
              <a:buNone/>
            </a:pPr>
            <a:r>
              <a:rPr lang="en-US" sz="1400" dirty="0">
                <a:solidFill>
                  <a:schemeClr val="tx1"/>
                </a:solidFill>
              </a:rPr>
              <a:t>The default Prometheus 3.x graph page does not show exemplars.</a:t>
            </a:r>
            <a:endParaRPr lang="en-US" sz="1400" dirty="0"/>
          </a:p>
        </p:txBody>
      </p:sp>
      <p:sp>
        <p:nvSpPr>
          <p:cNvPr id="20" name="Few metric types card"/>
          <p:cNvSpPr/>
          <p:nvPr/>
        </p:nvSpPr>
        <p:spPr>
          <a:xfrm>
            <a:off x="3291840" y="2926080"/>
            <a:ext cx="2560320" cy="1600200"/>
          </a:xfrm>
          <a:prstGeom prst="roundRect">
            <a:avLst>
              <a:gd name="adj" fmla="val 4571"/>
            </a:avLst>
          </a:prstGeom>
          <a:solidFill>
            <a:schemeClr val="bg2"/>
          </a:solidFill>
          <a:ln/>
          <a:effectLst>
            <a:outerShdw sx="100000" sy="100000" kx="0" ky="0" algn="bl" rotWithShape="0" blurRad="76200" dist="25400" dir="5400000">
              <a:srgbClr val="000000">
                <a:alpha val="12000"/>
              </a:srgbClr>
            </a:outerShdw>
          </a:effectLst>
        </p:spPr>
      </p:sp>
      <p:sp>
        <p:nvSpPr>
          <p:cNvPr id="21" name="Exemplar diamond"/>
          <p:cNvSpPr/>
          <p:nvPr/>
        </p:nvSpPr>
        <p:spPr>
          <a:xfrm>
            <a:off x="3465576" y="3127248"/>
            <a:ext cx="237744" cy="237744"/>
          </a:xfrm>
          <a:prstGeom prst="diamond">
            <a:avLst/>
          </a:prstGeom>
          <a:solidFill>
            <a:schemeClr val="accent2"/>
          </a:solidFill>
          <a:ln/>
        </p:spPr>
      </p:sp>
      <p:sp>
        <p:nvSpPr>
          <p:cNvPr id="22" name="Text 19"/>
          <p:cNvSpPr txBox="1"/>
          <p:nvPr/>
        </p:nvSpPr>
        <p:spPr>
          <a:xfrm>
            <a:off x="3840480" y="3081528"/>
            <a:ext cx="1920240" cy="329184"/>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Few metric types</a:t>
            </a:r>
            <a:endParaRPr lang="en-US" sz="1500" dirty="0"/>
          </a:p>
        </p:txBody>
      </p:sp>
      <p:sp>
        <p:nvSpPr>
          <p:cNvPr id="23" name="Text 20"/>
          <p:cNvSpPr txBox="1"/>
          <p:nvPr/>
        </p:nvSpPr>
        <p:spPr>
          <a:xfrm>
            <a:off x="3493008" y="3611880"/>
            <a:ext cx="2194560" cy="868680"/>
          </a:xfrm>
          <a:prstGeom prst="rect">
            <a:avLst/>
          </a:prstGeom>
          <a:noFill/>
          <a:ln/>
        </p:spPr>
        <p:txBody>
          <a:bodyPr wrap="square" lIns="0" tIns="0" rIns="0" bIns="0" rtlCol="0" anchor="t"/>
          <a:lstStyle/>
          <a:p>
            <a:pPr indent="0" marL="0">
              <a:buNone/>
            </a:pPr>
            <a:r>
              <a:rPr lang="en-US" sz="1400" dirty="0">
                <a:solidFill>
                  <a:schemeClr val="tx1"/>
                </a:solidFill>
              </a:rPr>
              <a:t>The OpenMetrics 1.0 spec lists counters and histogram buckets. Gauges are not listed.</a:t>
            </a:r>
            <a:endParaRPr lang="en-US" sz="1400" dirty="0"/>
          </a:p>
        </p:txBody>
      </p:sp>
      <p:sp>
        <p:nvSpPr>
          <p:cNvPr id="24" name="No retention promise card"/>
          <p:cNvSpPr/>
          <p:nvPr/>
        </p:nvSpPr>
        <p:spPr>
          <a:xfrm>
            <a:off x="6126480" y="2926080"/>
            <a:ext cx="2560320" cy="1600200"/>
          </a:xfrm>
          <a:prstGeom prst="roundRect">
            <a:avLst>
              <a:gd name="adj" fmla="val 4571"/>
            </a:avLst>
          </a:prstGeom>
          <a:solidFill>
            <a:schemeClr val="bg2"/>
          </a:solidFill>
          <a:ln/>
          <a:effectLst>
            <a:outerShdw sx="100000" sy="100000" kx="0" ky="0" algn="bl" rotWithShape="0" blurRad="76200" dist="25400" dir="5400000">
              <a:srgbClr val="000000">
                <a:alpha val="12000"/>
              </a:srgbClr>
            </a:outerShdw>
          </a:effectLst>
        </p:spPr>
      </p:sp>
      <p:sp>
        <p:nvSpPr>
          <p:cNvPr id="25" name="Exemplar diamond"/>
          <p:cNvSpPr/>
          <p:nvPr/>
        </p:nvSpPr>
        <p:spPr>
          <a:xfrm>
            <a:off x="6300216" y="3127248"/>
            <a:ext cx="237744" cy="237744"/>
          </a:xfrm>
          <a:prstGeom prst="diamond">
            <a:avLst/>
          </a:prstGeom>
          <a:solidFill>
            <a:schemeClr val="accent2"/>
          </a:solidFill>
          <a:ln/>
        </p:spPr>
      </p:sp>
      <p:sp>
        <p:nvSpPr>
          <p:cNvPr id="26" name="Text 23"/>
          <p:cNvSpPr txBox="1"/>
          <p:nvPr/>
        </p:nvSpPr>
        <p:spPr>
          <a:xfrm>
            <a:off x="6675120" y="3081528"/>
            <a:ext cx="1920240" cy="329184"/>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No retention promise</a:t>
            </a:r>
            <a:endParaRPr lang="en-US" sz="1500" dirty="0"/>
          </a:p>
        </p:txBody>
      </p:sp>
      <p:sp>
        <p:nvSpPr>
          <p:cNvPr id="27" name="Text 24"/>
          <p:cNvSpPr txBox="1"/>
          <p:nvPr/>
        </p:nvSpPr>
        <p:spPr>
          <a:xfrm>
            <a:off x="6327648" y="3611880"/>
            <a:ext cx="2194560" cy="868680"/>
          </a:xfrm>
          <a:prstGeom prst="rect">
            <a:avLst/>
          </a:prstGeom>
          <a:noFill/>
          <a:ln/>
        </p:spPr>
        <p:txBody>
          <a:bodyPr wrap="square" lIns="0" tIns="0" rIns="0" bIns="0" rtlCol="0" anchor="t"/>
          <a:lstStyle/>
          <a:p>
            <a:pPr indent="0" marL="0">
              <a:buNone/>
            </a:pPr>
            <a:r>
              <a:rPr lang="en-US" sz="1400" dirty="0">
                <a:solidFill>
                  <a:schemeClr val="tx1"/>
                </a:solidFill>
              </a:rPr>
              <a:t>No source documents how long exemplars last.</a:t>
            </a:r>
            <a:endParaRPr lang="en-US" sz="1400" dirty="0"/>
          </a:p>
        </p:txBody>
      </p:sp>
      <p:sp>
        <p:nvSpPr>
          <p:cNvPr id="28" name="Source note"/>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chemeClr val="tx2"/>
                </a:solidFill>
              </a:rPr>
              <a:t>Sources: Prometheus feature flags docs; Grafana Cloud exemplars docs; OpenMetrics spec; Prometheus source (web UI) on main.</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Where Metrics Drilldown fits</a:t>
            </a:r>
            <a:endParaRPr lang="en-US" sz="3400" dirty="0"/>
          </a:p>
        </p:txBody>
      </p:sp>
      <p:sp>
        <p:nvSpPr>
          <p:cNvPr id="4" name="Label chip"/>
          <p:cNvSpPr txBox="1"/>
          <p:nvPr/>
        </p:nvSpPr>
        <p:spPr>
          <a:xfrm>
            <a:off x="457200" y="1024128"/>
            <a:ext cx="1920240" cy="292608"/>
          </a:xfrm>
          <a:prstGeom prst="roundRect">
            <a:avLst>
              <a:gd name="adj" fmla="val 50000"/>
            </a:avLst>
          </a:prstGeom>
          <a:solidFill>
            <a:schemeClr val="accent1"/>
          </a:solidFill>
          <a:ln/>
        </p:spPr>
        <p:txBody>
          <a:bodyPr wrap="square" lIns="635" tIns="635" rIns="635" bIns="635" rtlCol="0" anchor="ctr"/>
          <a:lstStyle/>
          <a:p>
            <a:pPr algn="ctr" indent="0" marL="0">
              <a:buNone/>
            </a:pPr>
            <a:r>
              <a:rPr lang="en-US" sz="1200" b="1" dirty="0">
                <a:solidFill>
                  <a:schemeClr val="tx1"/>
                </a:solidFill>
              </a:rPr>
              <a:t>Planned, not shipped</a:t>
            </a:r>
            <a:endParaRPr lang="en-US" sz="1200" dirty="0"/>
          </a:p>
        </p:txBody>
      </p:sp>
      <p:sp>
        <p:nvSpPr>
          <p:cNvPr id="5" name="Step 1"/>
          <p:cNvSpPr txBox="1"/>
          <p:nvPr/>
        </p:nvSpPr>
        <p:spPr>
          <a:xfrm>
            <a:off x="457200" y="1508760"/>
            <a:ext cx="329184" cy="32918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960120" y="1472184"/>
            <a:ext cx="3383280" cy="640080"/>
          </a:xfrm>
          <a:prstGeom prst="rect">
            <a:avLst/>
          </a:prstGeom>
          <a:noFill/>
          <a:ln/>
        </p:spPr>
        <p:txBody>
          <a:bodyPr wrap="square" lIns="0" tIns="0" rIns="0" bIns="0" rtlCol="0" anchor="ctr"/>
          <a:lstStyle/>
          <a:p>
            <a:pPr indent="0" marL="0">
              <a:buNone/>
            </a:pPr>
            <a:r>
              <a:rPr lang="en-US" sz="1400" dirty="0">
                <a:solidFill>
                  <a:schemeClr val="tx1"/>
                </a:solidFill>
              </a:rPr>
              <a:t>Checkbox on the main metric panel: Enable exemplar query.</a:t>
            </a:r>
            <a:endParaRPr lang="en-US" sz="1400" dirty="0"/>
          </a:p>
        </p:txBody>
      </p:sp>
      <p:sp>
        <p:nvSpPr>
          <p:cNvPr id="7" name="Step 2"/>
          <p:cNvSpPr txBox="1"/>
          <p:nvPr/>
        </p:nvSpPr>
        <p:spPr>
          <a:xfrm>
            <a:off x="457200" y="2221992"/>
            <a:ext cx="329184" cy="32918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5"/>
          <p:cNvSpPr txBox="1"/>
          <p:nvPr/>
        </p:nvSpPr>
        <p:spPr>
          <a:xfrm>
            <a:off x="960120" y="2185416"/>
            <a:ext cx="3383280" cy="640080"/>
          </a:xfrm>
          <a:prstGeom prst="rect">
            <a:avLst/>
          </a:prstGeom>
          <a:noFill/>
          <a:ln/>
        </p:spPr>
        <p:txBody>
          <a:bodyPr wrap="square" lIns="0" tIns="0" rIns="0" bIns="0" rtlCol="0" anchor="ctr"/>
          <a:lstStyle/>
          <a:p>
            <a:pPr indent="0" marL="0">
              <a:buNone/>
            </a:pPr>
            <a:r>
              <a:rPr lang="en-US" sz="1400" dirty="0">
                <a:solidFill>
                  <a:schemeClr val="tx1"/>
                </a:solidFill>
              </a:rPr>
              <a:t>Off by default.</a:t>
            </a:r>
            <a:endParaRPr lang="en-US" sz="1400" dirty="0"/>
          </a:p>
        </p:txBody>
      </p:sp>
      <p:sp>
        <p:nvSpPr>
          <p:cNvPr id="9" name="Step 3"/>
          <p:cNvSpPr txBox="1"/>
          <p:nvPr/>
        </p:nvSpPr>
        <p:spPr>
          <a:xfrm>
            <a:off x="457200" y="2935224"/>
            <a:ext cx="329184" cy="32918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0" name="Text 7"/>
          <p:cNvSpPr txBox="1"/>
          <p:nvPr/>
        </p:nvSpPr>
        <p:spPr>
          <a:xfrm>
            <a:off x="960120" y="2898648"/>
            <a:ext cx="3383280" cy="640080"/>
          </a:xfrm>
          <a:prstGeom prst="rect">
            <a:avLst/>
          </a:prstGeom>
          <a:noFill/>
          <a:ln/>
        </p:spPr>
        <p:txBody>
          <a:bodyPr wrap="square" lIns="0" tIns="0" rIns="0" bIns="0" rtlCol="0" anchor="ctr"/>
          <a:lstStyle/>
          <a:p>
            <a:pPr indent="0" marL="0">
              <a:buNone/>
            </a:pPr>
            <a:r>
              <a:rPr lang="en-US" sz="1400" dirty="0">
                <a:solidFill>
                  <a:schemeClr val="tx1"/>
                </a:solidFill>
              </a:rPr>
              <a:t>Hidden or disabled for gauge metrics, where exemplars are very unlikely.</a:t>
            </a:r>
            <a:endParaRPr lang="en-US" sz="1400" dirty="0"/>
          </a:p>
        </p:txBody>
      </p:sp>
      <p:sp>
        <p:nvSpPr>
          <p:cNvPr id="11" name="Step 4"/>
          <p:cNvSpPr txBox="1"/>
          <p:nvPr/>
        </p:nvSpPr>
        <p:spPr>
          <a:xfrm>
            <a:off x="457200" y="3648456"/>
            <a:ext cx="329184" cy="329184"/>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2" name="Text 9"/>
          <p:cNvSpPr txBox="1"/>
          <p:nvPr/>
        </p:nvSpPr>
        <p:spPr>
          <a:xfrm>
            <a:off x="960120" y="3611880"/>
            <a:ext cx="3383280" cy="640080"/>
          </a:xfrm>
          <a:prstGeom prst="rect">
            <a:avLst/>
          </a:prstGeom>
          <a:noFill/>
          <a:ln/>
        </p:spPr>
        <p:txBody>
          <a:bodyPr wrap="square" lIns="0" tIns="0" rIns="0" bIns="0" rtlCol="0" anchor="ctr"/>
          <a:lstStyle/>
          <a:p>
            <a:pPr indent="0" marL="0">
              <a:buNone/>
            </a:pPr>
            <a:r>
              <a:rPr lang="en-US" sz="1400" dirty="0">
                <a:solidFill>
                  <a:schemeClr val="tx1"/>
                </a:solidFill>
              </a:rPr>
              <a:t>A second link in the exemplar tooltip opens Traces Drilldown. Today it links to Explore.</a:t>
            </a:r>
            <a:endParaRPr lang="en-US" sz="1400" dirty="0"/>
          </a:p>
        </p:txBody>
      </p:sp>
      <p:sp>
        <p:nvSpPr>
          <p:cNvPr id="13" name="Panel mock"/>
          <p:cNvSpPr/>
          <p:nvPr/>
        </p:nvSpPr>
        <p:spPr>
          <a:xfrm>
            <a:off x="4663440" y="1188720"/>
            <a:ext cx="4023360" cy="3200400"/>
          </a:xfrm>
          <a:prstGeom prst="roundRect">
            <a:avLst>
              <a:gd name="adj" fmla="val 2286"/>
            </a:avLst>
          </a:prstGeom>
          <a:solidFill>
            <a:schemeClr val="bg2"/>
          </a:solidFill>
          <a:ln/>
          <a:effectLst>
            <a:outerShdw sx="100000" sy="100000" kx="0" ky="0" algn="bl" rotWithShape="0" blurRad="76200" dist="25400" dir="5400000">
              <a:srgbClr val="000000">
                <a:alpha val="12000"/>
              </a:srgbClr>
            </a:outerShdw>
          </a:effectLst>
        </p:spPr>
      </p:sp>
      <p:sp>
        <p:nvSpPr>
          <p:cNvPr id="14" name="Text 11"/>
          <p:cNvSpPr txBox="1"/>
          <p:nvPr/>
        </p:nvSpPr>
        <p:spPr>
          <a:xfrm>
            <a:off x="4846320" y="1325880"/>
            <a:ext cx="2377440" cy="274320"/>
          </a:xfrm>
          <a:prstGeom prst="rect">
            <a:avLst/>
          </a:prstGeom>
          <a:noFill/>
          <a:ln/>
        </p:spPr>
        <p:txBody>
          <a:bodyPr wrap="square" lIns="0" tIns="0" rIns="0" bIns="0" rtlCol="0" anchor="t"/>
          <a:lstStyle/>
          <a:p>
            <a:pPr indent="0" marL="0">
              <a:buNone/>
            </a:pPr>
            <a:r>
              <a:rPr lang="en-US" sz="1100" b="1" dirty="0">
                <a:solidFill>
                  <a:schemeClr val="tx2"/>
                </a:solidFill>
              </a:rPr>
              <a:t>http_request_duration_seconds</a:t>
            </a:r>
            <a:endParaRPr lang="en-US" sz="1100" dirty="0"/>
          </a:p>
        </p:txBody>
      </p:sp>
      <p:sp>
        <p:nvSpPr>
          <p:cNvPr id="15" name="Checkbox"/>
          <p:cNvSpPr/>
          <p:nvPr/>
        </p:nvSpPr>
        <p:spPr>
          <a:xfrm>
            <a:off x="7086600" y="1325880"/>
            <a:ext cx="182880" cy="182880"/>
          </a:xfrm>
          <a:prstGeom prst="roundRect">
            <a:avLst>
              <a:gd name="adj" fmla="val 15000"/>
            </a:avLst>
          </a:prstGeom>
          <a:solidFill>
            <a:schemeClr val="bg1"/>
          </a:solidFill>
          <a:ln w="19050">
            <a:solidFill>
              <a:schemeClr val="accent2"/>
            </a:solidFill>
            <a:prstDash val="solid"/>
          </a:ln>
        </p:spPr>
      </p:sp>
      <p:sp>
        <p:nvSpPr>
          <p:cNvPr id="16" name="Text 13"/>
          <p:cNvSpPr txBox="1"/>
          <p:nvPr/>
        </p:nvSpPr>
        <p:spPr>
          <a:xfrm>
            <a:off x="7333488" y="1307592"/>
            <a:ext cx="1325880" cy="228600"/>
          </a:xfrm>
          <a:prstGeom prst="rect">
            <a:avLst/>
          </a:prstGeom>
          <a:noFill/>
          <a:ln/>
        </p:spPr>
        <p:txBody>
          <a:bodyPr wrap="square" lIns="0" tIns="0" rIns="0" bIns="0" rtlCol="0" anchor="t"/>
          <a:lstStyle/>
          <a:p>
            <a:pPr indent="0" marL="0">
              <a:buNone/>
            </a:pPr>
            <a:r>
              <a:rPr lang="en-US" sz="1000" dirty="0">
                <a:solidFill>
                  <a:schemeClr val="tx1"/>
                </a:solidFill>
              </a:rPr>
              <a:t>Enable exemplar query</a:t>
            </a:r>
            <a:endParaRPr lang="en-US" sz="1000" dirty="0"/>
          </a:p>
        </p:txBody>
      </p:sp>
      <p:sp>
        <p:nvSpPr>
          <p:cNvPr id="17" name="Graph card"/>
          <p:cNvSpPr/>
          <p:nvPr/>
        </p:nvSpPr>
        <p:spPr>
          <a:xfrm>
            <a:off x="4754880" y="1691640"/>
            <a:ext cx="3840480" cy="2560320"/>
          </a:xfrm>
          <a:prstGeom prst="roundRect">
            <a:avLst>
              <a:gd name="adj" fmla="val 2857"/>
            </a:avLst>
          </a:prstGeom>
          <a:solidFill>
            <a:schemeClr val="bg2"/>
          </a:solidFill>
          <a:ln/>
          <a:effectLst>
            <a:outerShdw sx="100000" sy="100000" kx="0" ky="0" algn="bl" rotWithShape="0" blurRad="76200" dist="25400" dir="5400000">
              <a:srgbClr val="000000">
                <a:alpha val="12000"/>
              </a:srgbClr>
            </a:outerShdw>
          </a:effectLst>
        </p:spPr>
      </p:sp>
      <p:sp>
        <p:nvSpPr>
          <p:cNvPr id="18" name="Axis"/>
          <p:cNvSpPr/>
          <p:nvPr/>
        </p:nvSpPr>
        <p:spPr>
          <a:xfrm>
            <a:off x="4983480" y="3794760"/>
            <a:ext cx="3383280" cy="0"/>
          </a:xfrm>
          <a:prstGeom prst="line">
            <a:avLst/>
          </a:prstGeom>
          <a:noFill/>
          <a:ln w="12700">
            <a:solidFill>
              <a:schemeClr val="accent5"/>
            </a:solidFill>
            <a:prstDash val="solid"/>
          </a:ln>
        </p:spPr>
      </p:sp>
      <p:sp>
        <p:nvSpPr>
          <p:cNvPr id="19" name="Series line"/>
          <p:cNvSpPr/>
          <p:nvPr/>
        </p:nvSpPr>
        <p:spPr>
          <a:xfrm>
            <a:off x="4983480" y="2011680"/>
            <a:ext cx="3383280" cy="1783080"/>
          </a:xfrm>
          <a:custGeom>
            <a:avLst/>
            <a:gdLst/>
            <a:ahLst/>
            <a:cxnLst/>
            <a:rect l="l" t="t" r="r" b="b"/>
            <a:pathLst>
              <a:path w="3383280" h="1783080">
                <a:moveTo>
                  <a:pt x="0" y="1283818"/>
                </a:moveTo>
                <a:lnTo>
                  <a:pt x="473659" y="1176833"/>
                </a:lnTo>
                <a:lnTo>
                  <a:pt x="947318" y="1248156"/>
                </a:lnTo>
                <a:lnTo>
                  <a:pt x="1420978" y="1069848"/>
                </a:lnTo>
                <a:lnTo>
                  <a:pt x="1826971" y="1141171"/>
                </a:lnTo>
                <a:lnTo>
                  <a:pt x="2165299" y="213970"/>
                </a:lnTo>
                <a:lnTo>
                  <a:pt x="2503627" y="980694"/>
                </a:lnTo>
                <a:lnTo>
                  <a:pt x="2909621" y="1105510"/>
                </a:lnTo>
                <a:lnTo>
                  <a:pt x="3383280" y="1034186"/>
                </a:lnTo>
              </a:path>
            </a:pathLst>
          </a:custGeom>
          <a:ln w="38100">
            <a:solidFill>
              <a:schemeClr val="accent2"/>
            </a:solidFill>
            <a:prstDash val="solid"/>
          </a:ln>
        </p:spPr>
      </p:sp>
      <p:sp>
        <p:nvSpPr>
          <p:cNvPr id="20" name="Exemplar diamond"/>
          <p:cNvSpPr/>
          <p:nvPr/>
        </p:nvSpPr>
        <p:spPr>
          <a:xfrm>
            <a:off x="7048195" y="2125066"/>
            <a:ext cx="201168" cy="201168"/>
          </a:xfrm>
          <a:prstGeom prst="diamond">
            <a:avLst/>
          </a:prstGeom>
          <a:solidFill>
            <a:schemeClr val="accent1"/>
          </a:solidFill>
          <a:ln/>
        </p:spPr>
      </p:sp>
      <p:sp>
        <p:nvSpPr>
          <p:cNvPr id="21" name="Tooltip"/>
          <p:cNvSpPr/>
          <p:nvPr/>
        </p:nvSpPr>
        <p:spPr>
          <a:xfrm>
            <a:off x="7331659" y="2317090"/>
            <a:ext cx="1371600" cy="868680"/>
          </a:xfrm>
          <a:prstGeom prst="roundRect">
            <a:avLst>
              <a:gd name="adj" fmla="val 6316"/>
            </a:avLst>
          </a:prstGeom>
          <a:solidFill>
            <a:schemeClr val="tx1"/>
          </a:solidFill>
          <a:ln/>
          <a:effectLst>
            <a:outerShdw sx="100000" sy="100000" kx="0" ky="0" algn="bl" rotWithShape="0" blurRad="76200" dist="25400" dir="5400000">
              <a:srgbClr val="000000">
                <a:alpha val="12000"/>
              </a:srgbClr>
            </a:outerShdw>
          </a:effectLst>
        </p:spPr>
      </p:sp>
      <p:sp>
        <p:nvSpPr>
          <p:cNvPr id="22" name="Text 19"/>
          <p:cNvSpPr txBox="1"/>
          <p:nvPr/>
        </p:nvSpPr>
        <p:spPr>
          <a:xfrm>
            <a:off x="7441387" y="2408530"/>
            <a:ext cx="1188720" cy="228600"/>
          </a:xfrm>
          <a:prstGeom prst="rect">
            <a:avLst/>
          </a:prstGeom>
          <a:noFill/>
          <a:ln/>
        </p:spPr>
        <p:txBody>
          <a:bodyPr wrap="square" lIns="0" tIns="0" rIns="0" bIns="0" rtlCol="0" anchor="t"/>
          <a:lstStyle/>
          <a:p>
            <a:pPr indent="0" marL="0">
              <a:buNone/>
            </a:pPr>
            <a:r>
              <a:rPr lang="en-US" sz="1100" dirty="0">
                <a:solidFill>
                  <a:schemeClr val="bg1"/>
                </a:solidFill>
              </a:rPr>
              <a:t>Open in Explore</a:t>
            </a:r>
            <a:endParaRPr lang="en-US" sz="1100" dirty="0"/>
          </a:p>
        </p:txBody>
      </p:sp>
      <p:sp>
        <p:nvSpPr>
          <p:cNvPr id="23" name="Text 20"/>
          <p:cNvSpPr txBox="1"/>
          <p:nvPr/>
        </p:nvSpPr>
        <p:spPr>
          <a:xfrm>
            <a:off x="7441387" y="2756002"/>
            <a:ext cx="1188720" cy="365760"/>
          </a:xfrm>
          <a:prstGeom prst="rect">
            <a:avLst/>
          </a:prstGeom>
          <a:noFill/>
          <a:ln/>
        </p:spPr>
        <p:txBody>
          <a:bodyPr wrap="square" lIns="0" tIns="0" rIns="0" bIns="0" rtlCol="0" anchor="t"/>
          <a:lstStyle/>
          <a:p>
            <a:pPr indent="0" marL="0">
              <a:buNone/>
            </a:pPr>
            <a:r>
              <a:rPr lang="en-US" sz="1100" b="1" dirty="0">
                <a:solidFill>
                  <a:schemeClr val="accent1"/>
                </a:solidFill>
              </a:rPr>
              <a:t>Open in Traces Drilldown</a:t>
            </a:r>
            <a:endParaRPr lang="en-US" sz="1100" dirty="0"/>
          </a:p>
        </p:txBody>
      </p:sp>
      <p:sp>
        <p:nvSpPr>
          <p:cNvPr id="24" name="Text 21"/>
          <p:cNvSpPr txBox="1"/>
          <p:nvPr/>
        </p:nvSpPr>
        <p:spPr>
          <a:xfrm>
            <a:off x="4892040" y="4023360"/>
            <a:ext cx="1828800" cy="201168"/>
          </a:xfrm>
          <a:prstGeom prst="rect">
            <a:avLst/>
          </a:prstGeom>
          <a:noFill/>
          <a:ln/>
        </p:spPr>
        <p:txBody>
          <a:bodyPr wrap="square" lIns="0" tIns="0" rIns="0" bIns="0" rtlCol="0" anchor="t"/>
          <a:lstStyle/>
          <a:p>
            <a:pPr indent="0" marL="0">
              <a:buNone/>
            </a:pPr>
            <a:r>
              <a:rPr lang="en-US" sz="1000" dirty="0">
                <a:solidFill>
                  <a:schemeClr val="tx2"/>
                </a:solidFill>
              </a:rPr>
              <a:t>Illustrative mock</a:t>
            </a:r>
            <a:endParaRPr lang="en-US" sz="1000" dirty="0"/>
          </a:p>
        </p:txBody>
      </p:sp>
      <p:sp>
        <p:nvSpPr>
          <p:cNvPr id="25" name="Source note"/>
          <p:cNvSpPr txBox="1"/>
          <p:nvPr/>
        </p:nvSpPr>
        <p:spPr>
          <a:xfrm>
            <a:off x="457200" y="4681728"/>
            <a:ext cx="7680960" cy="274320"/>
          </a:xfrm>
          <a:prstGeom prst="rect">
            <a:avLst/>
          </a:prstGeom>
          <a:noFill/>
          <a:ln/>
        </p:spPr>
        <p:txBody>
          <a:bodyPr wrap="square" lIns="0" tIns="0" rIns="0" bIns="0" rtlCol="0" anchor="ctr"/>
          <a:lstStyle/>
          <a:p>
            <a:pPr indent="0" marL="0">
              <a:buNone/>
            </a:pPr>
            <a:r>
              <a:rPr lang="en-US" sz="1000" dirty="0">
                <a:solidFill>
                  <a:schemeClr val="tx2"/>
                </a:solidFill>
              </a:rPr>
              <a:t>Source: docs/exemplars-to-traces-drilldown-plan.md. Mimir and Thanos behavior is listed there as unverified.</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bg1"/>
                </a:solidFill>
              </a:rPr>
              <a:t>What to ask your team</a:t>
            </a:r>
            <a:endParaRPr lang="en-US" sz="3400" dirty="0"/>
          </a:p>
        </p:txBody>
      </p:sp>
      <p:sp>
        <p:nvSpPr>
          <p:cNvPr id="4" name="Question card 1"/>
          <p:cNvSpPr/>
          <p:nvPr/>
        </p:nvSpPr>
        <p:spPr>
          <a:xfrm>
            <a:off x="457200" y="1188720"/>
            <a:ext cx="8229600" cy="603504"/>
          </a:xfrm>
          <a:prstGeom prst="roundRect">
            <a:avLst>
              <a:gd name="adj" fmla="val 12121"/>
            </a:avLst>
          </a:prstGeom>
          <a:solidFill>
            <a:schemeClr val="tx2"/>
          </a:solidFill>
          <a:ln/>
        </p:spPr>
      </p:sp>
      <p:sp>
        <p:nvSpPr>
          <p:cNvPr id="5" name="Exemplar diamond"/>
          <p:cNvSpPr/>
          <p:nvPr/>
        </p:nvSpPr>
        <p:spPr>
          <a:xfrm>
            <a:off x="649224" y="1362456"/>
            <a:ext cx="256032" cy="256032"/>
          </a:xfrm>
          <a:prstGeom prst="diamond">
            <a:avLst/>
          </a:prstGeom>
          <a:solidFill>
            <a:schemeClr val="accent1"/>
          </a:solidFill>
          <a:ln/>
        </p:spPr>
      </p:sp>
      <p:sp>
        <p:nvSpPr>
          <p:cNvPr id="6" name="Text 3"/>
          <p:cNvSpPr txBox="1"/>
          <p:nvPr/>
        </p:nvSpPr>
        <p:spPr>
          <a:xfrm>
            <a:off x="1143000" y="1188720"/>
            <a:ext cx="7315200" cy="603504"/>
          </a:xfrm>
          <a:prstGeom prst="rect">
            <a:avLst/>
          </a:prstGeom>
          <a:noFill/>
          <a:ln/>
        </p:spPr>
        <p:txBody>
          <a:bodyPr wrap="square" lIns="0" tIns="0" rIns="0" bIns="0" rtlCol="0" anchor="ctr"/>
          <a:lstStyle/>
          <a:p>
            <a:pPr indent="0" marL="0">
              <a:buNone/>
            </a:pPr>
            <a:r>
              <a:rPr lang="en-US" sz="1600" dirty="0">
                <a:solidFill>
                  <a:schemeClr val="bg1"/>
                </a:solidFill>
              </a:rPr>
              <a:t>Do our apps attach trace IDs to latency metrics?</a:t>
            </a:r>
            <a:endParaRPr lang="en-US" sz="1600" dirty="0"/>
          </a:p>
        </p:txBody>
      </p:sp>
      <p:sp>
        <p:nvSpPr>
          <p:cNvPr id="7" name="Question card 2"/>
          <p:cNvSpPr/>
          <p:nvPr/>
        </p:nvSpPr>
        <p:spPr>
          <a:xfrm>
            <a:off x="457200" y="1901952"/>
            <a:ext cx="8229600" cy="603504"/>
          </a:xfrm>
          <a:prstGeom prst="roundRect">
            <a:avLst>
              <a:gd name="adj" fmla="val 12121"/>
            </a:avLst>
          </a:prstGeom>
          <a:solidFill>
            <a:schemeClr val="tx2"/>
          </a:solidFill>
          <a:ln/>
        </p:spPr>
      </p:sp>
      <p:sp>
        <p:nvSpPr>
          <p:cNvPr id="8" name="Exemplar diamond"/>
          <p:cNvSpPr/>
          <p:nvPr/>
        </p:nvSpPr>
        <p:spPr>
          <a:xfrm>
            <a:off x="649224" y="2075688"/>
            <a:ext cx="256032" cy="256032"/>
          </a:xfrm>
          <a:prstGeom prst="diamond">
            <a:avLst/>
          </a:prstGeom>
          <a:solidFill>
            <a:schemeClr val="accent1"/>
          </a:solidFill>
          <a:ln/>
        </p:spPr>
      </p:sp>
      <p:sp>
        <p:nvSpPr>
          <p:cNvPr id="9" name="Text 6"/>
          <p:cNvSpPr txBox="1"/>
          <p:nvPr/>
        </p:nvSpPr>
        <p:spPr>
          <a:xfrm>
            <a:off x="1143000" y="1901952"/>
            <a:ext cx="7315200" cy="603504"/>
          </a:xfrm>
          <a:prstGeom prst="rect">
            <a:avLst/>
          </a:prstGeom>
          <a:noFill/>
          <a:ln/>
        </p:spPr>
        <p:txBody>
          <a:bodyPr wrap="square" lIns="0" tIns="0" rIns="0" bIns="0" rtlCol="0" anchor="ctr"/>
          <a:lstStyle/>
          <a:p>
            <a:pPr indent="0" marL="0">
              <a:buNone/>
            </a:pPr>
            <a:r>
              <a:rPr lang="en-US" sz="1600" dirty="0">
                <a:solidFill>
                  <a:schemeClr val="bg1"/>
                </a:solidFill>
              </a:rPr>
              <a:t>Is exemplar storage on in Prometheus, and is it sent on to Mimir?</a:t>
            </a:r>
            <a:endParaRPr lang="en-US" sz="1600" dirty="0"/>
          </a:p>
        </p:txBody>
      </p:sp>
      <p:sp>
        <p:nvSpPr>
          <p:cNvPr id="10" name="Question card 3"/>
          <p:cNvSpPr/>
          <p:nvPr/>
        </p:nvSpPr>
        <p:spPr>
          <a:xfrm>
            <a:off x="457200" y="2615184"/>
            <a:ext cx="8229600" cy="603504"/>
          </a:xfrm>
          <a:prstGeom prst="roundRect">
            <a:avLst>
              <a:gd name="adj" fmla="val 12121"/>
            </a:avLst>
          </a:prstGeom>
          <a:solidFill>
            <a:schemeClr val="tx2"/>
          </a:solidFill>
          <a:ln/>
        </p:spPr>
      </p:sp>
      <p:sp>
        <p:nvSpPr>
          <p:cNvPr id="11" name="Exemplar diamond"/>
          <p:cNvSpPr/>
          <p:nvPr/>
        </p:nvSpPr>
        <p:spPr>
          <a:xfrm>
            <a:off x="649224" y="2788920"/>
            <a:ext cx="256032" cy="256032"/>
          </a:xfrm>
          <a:prstGeom prst="diamond">
            <a:avLst/>
          </a:prstGeom>
          <a:solidFill>
            <a:schemeClr val="accent1"/>
          </a:solidFill>
          <a:ln/>
        </p:spPr>
      </p:sp>
      <p:sp>
        <p:nvSpPr>
          <p:cNvPr id="12" name="Text 9"/>
          <p:cNvSpPr txBox="1"/>
          <p:nvPr/>
        </p:nvSpPr>
        <p:spPr>
          <a:xfrm>
            <a:off x="1143000" y="2615184"/>
            <a:ext cx="7315200" cy="603504"/>
          </a:xfrm>
          <a:prstGeom prst="rect">
            <a:avLst/>
          </a:prstGeom>
          <a:noFill/>
          <a:ln/>
        </p:spPr>
        <p:txBody>
          <a:bodyPr wrap="square" lIns="0" tIns="0" rIns="0" bIns="0" rtlCol="0" anchor="ctr"/>
          <a:lstStyle/>
          <a:p>
            <a:pPr indent="0" marL="0">
              <a:buNone/>
            </a:pPr>
            <a:r>
              <a:rPr lang="en-US" sz="1600" dirty="0">
                <a:solidFill>
                  <a:schemeClr val="bg1"/>
                </a:solidFill>
              </a:rPr>
              <a:t>Does our trace sampling keep the traces that exemplars point to?</a:t>
            </a:r>
            <a:endParaRPr lang="en-US" sz="1600" dirty="0"/>
          </a:p>
        </p:txBody>
      </p:sp>
      <p:sp>
        <p:nvSpPr>
          <p:cNvPr id="13" name="Question card 4"/>
          <p:cNvSpPr/>
          <p:nvPr/>
        </p:nvSpPr>
        <p:spPr>
          <a:xfrm>
            <a:off x="457200" y="3328416"/>
            <a:ext cx="8229600" cy="603504"/>
          </a:xfrm>
          <a:prstGeom prst="roundRect">
            <a:avLst>
              <a:gd name="adj" fmla="val 12121"/>
            </a:avLst>
          </a:prstGeom>
          <a:solidFill>
            <a:schemeClr val="tx2"/>
          </a:solidFill>
          <a:ln/>
        </p:spPr>
      </p:sp>
      <p:sp>
        <p:nvSpPr>
          <p:cNvPr id="14" name="Exemplar diamond"/>
          <p:cNvSpPr/>
          <p:nvPr/>
        </p:nvSpPr>
        <p:spPr>
          <a:xfrm>
            <a:off x="649224" y="3502152"/>
            <a:ext cx="256032" cy="256032"/>
          </a:xfrm>
          <a:prstGeom prst="diamond">
            <a:avLst/>
          </a:prstGeom>
          <a:solidFill>
            <a:schemeClr val="accent1"/>
          </a:solidFill>
          <a:ln/>
        </p:spPr>
      </p:sp>
      <p:sp>
        <p:nvSpPr>
          <p:cNvPr id="15" name="Text 12"/>
          <p:cNvSpPr txBox="1"/>
          <p:nvPr/>
        </p:nvSpPr>
        <p:spPr>
          <a:xfrm>
            <a:off x="1143000" y="3328416"/>
            <a:ext cx="7315200" cy="603504"/>
          </a:xfrm>
          <a:prstGeom prst="rect">
            <a:avLst/>
          </a:prstGeom>
          <a:noFill/>
          <a:ln/>
        </p:spPr>
        <p:txBody>
          <a:bodyPr wrap="square" lIns="0" tIns="0" rIns="0" bIns="0" rtlCol="0" anchor="ctr"/>
          <a:lstStyle/>
          <a:p>
            <a:pPr indent="0" marL="0">
              <a:buNone/>
            </a:pPr>
            <a:r>
              <a:rPr lang="en-US" sz="1600" dirty="0">
                <a:solidFill>
                  <a:schemeClr val="bg1"/>
                </a:solidFill>
              </a:rPr>
              <a:t>Can a person get from the diamond to the trace in one click?</a:t>
            </a:r>
            <a:endParaRPr lang="en-US" sz="1600" dirty="0"/>
          </a:p>
        </p:txBody>
      </p:sp>
      <p:sp>
        <p:nvSpPr>
          <p:cNvPr id="16" name="Text 13"/>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The graph says when and how bad. The exemplar points to a real request that shows where the time went.</a:t>
            </a:r>
            <a:endParaRPr lang="en-US" sz="18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400" b="1" dirty="0">
                <a:solidFill>
                  <a:schemeClr val="tx1"/>
                </a:solidFill>
              </a:rPr>
              <a:t>Sources</a:t>
            </a:r>
            <a:endParaRPr lang="en-US" sz="3400" dirty="0"/>
          </a:p>
        </p:txBody>
      </p:sp>
      <p:sp>
        <p:nvSpPr>
          <p:cNvPr id="4" name="Text 1"/>
          <p:cNvSpPr txBox="1"/>
          <p:nvPr/>
        </p:nvSpPr>
        <p:spPr>
          <a:xfrm>
            <a:off x="457200" y="1188720"/>
            <a:ext cx="4023360" cy="3383280"/>
          </a:xfrm>
          <a:prstGeom prst="rect">
            <a:avLst/>
          </a:prstGeom>
          <a:noFill/>
          <a:ln/>
        </p:spPr>
        <p:txBody>
          <a:bodyPr wrap="square" lIns="0" tIns="0" rIns="0" bIns="0" rtlCol="0" anchor="t"/>
          <a:lstStyle/>
          <a:p>
            <a:pPr indent="0" marL="0">
              <a:spcAft>
                <a:spcPts val="500"/>
              </a:spcAft>
              <a:buNone/>
            </a:pPr>
            <a:r>
              <a:rPr lang="en-US" sz="1100" dirty="0">
                <a:solidFill>
                  <a:schemeClr val="tx1"/>
                </a:solidFill>
              </a:rPr>
              <a:t>prometheus.io/docs/prometheus/latest/feature_flags/</a:t>
            </a:r>
            <a:endParaRPr lang="en-US" sz="1100" dirty="0"/>
          </a:p>
          <a:p>
            <a:pPr indent="0" marL="0">
              <a:spcAft>
                <a:spcPts val="500"/>
              </a:spcAft>
              <a:buNone/>
            </a:pPr>
            <a:r>
              <a:rPr lang="en-US" sz="1100" dirty="0">
                <a:solidFill>
                  <a:schemeClr val="tx1"/>
                </a:solidFill>
              </a:rPr>
              <a:t>prometheus.io/docs/prometheus/latest/configuration/configuration/</a:t>
            </a:r>
            <a:endParaRPr lang="en-US" sz="1100" dirty="0"/>
          </a:p>
          <a:p>
            <a:pPr indent="0" marL="0">
              <a:spcAft>
                <a:spcPts val="500"/>
              </a:spcAft>
              <a:buNone/>
            </a:pPr>
            <a:r>
              <a:rPr lang="en-US" sz="1100" dirty="0">
                <a:solidFill>
                  <a:schemeClr val="tx1"/>
                </a:solidFill>
              </a:rPr>
              <a:t>prometheus.io/docs/instrumenting/exposition_formats/</a:t>
            </a:r>
            <a:endParaRPr lang="en-US" sz="1100" dirty="0"/>
          </a:p>
          <a:p>
            <a:pPr indent="0" marL="0">
              <a:spcAft>
                <a:spcPts val="500"/>
              </a:spcAft>
              <a:buNone/>
            </a:pPr>
            <a:r>
              <a:rPr lang="en-US" sz="1100" dirty="0">
                <a:solidFill>
                  <a:schemeClr val="tx1"/>
                </a:solidFill>
              </a:rPr>
              <a:t>github.com/prometheus/OpenMetrics (specification)</a:t>
            </a:r>
            <a:endParaRPr lang="en-US" sz="1100" dirty="0"/>
          </a:p>
          <a:p>
            <a:pPr indent="0" marL="0">
              <a:spcAft>
                <a:spcPts val="500"/>
              </a:spcAft>
              <a:buNone/>
            </a:pPr>
            <a:r>
              <a:rPr lang="en-US" sz="1100" dirty="0">
                <a:solidFill>
                  <a:schemeClr val="tx1"/>
                </a:solidFill>
              </a:rPr>
              <a:t>github.com/prometheus/client_golang, client_java, client_python</a:t>
            </a:r>
            <a:endParaRPr lang="en-US" sz="1100" dirty="0"/>
          </a:p>
          <a:p>
            <a:pPr indent="0" marL="0">
              <a:spcAft>
                <a:spcPts val="500"/>
              </a:spcAft>
              <a:buNone/>
            </a:pPr>
            <a:r>
              <a:rPr lang="en-US" sz="1100" dirty="0">
                <a:solidFill>
                  <a:schemeClr val="tx1"/>
                </a:solidFill>
              </a:rPr>
              <a:t>opentelemetry.io/docs/specs/otel/metrics/sdk/</a:t>
            </a:r>
            <a:endParaRPr lang="en-US" sz="1100" dirty="0"/>
          </a:p>
          <a:p>
            <a:pPr indent="0" marL="0">
              <a:spcAft>
                <a:spcPts val="500"/>
              </a:spcAft>
              <a:buNone/>
            </a:pPr>
            <a:r>
              <a:rPr lang="en-US" sz="1100" dirty="0">
                <a:solidFill>
                  <a:schemeClr val="tx1"/>
                </a:solidFill>
              </a:rPr>
              <a:t>opentelemetry.io/docs/specs/otel/compatibility/prometheus_and_openmetrics/</a:t>
            </a:r>
            <a:endParaRPr lang="en-US" sz="1100" dirty="0"/>
          </a:p>
        </p:txBody>
      </p:sp>
      <p:sp>
        <p:nvSpPr>
          <p:cNvPr id="5" name="Text 2"/>
          <p:cNvSpPr txBox="1"/>
          <p:nvPr/>
        </p:nvSpPr>
        <p:spPr>
          <a:xfrm>
            <a:off x="4663440" y="1188720"/>
            <a:ext cx="4023360" cy="3383280"/>
          </a:xfrm>
          <a:prstGeom prst="rect">
            <a:avLst/>
          </a:prstGeom>
          <a:noFill/>
          <a:ln/>
        </p:spPr>
        <p:txBody>
          <a:bodyPr wrap="square" lIns="0" tIns="0" rIns="0" bIns="0" rtlCol="0" anchor="t"/>
          <a:lstStyle/>
          <a:p>
            <a:pPr indent="0" marL="0">
              <a:spcAft>
                <a:spcPts val="500"/>
              </a:spcAft>
              <a:buNone/>
            </a:pPr>
            <a:r>
              <a:rPr lang="en-US" sz="1100" dirty="0">
                <a:solidFill>
                  <a:schemeClr val="tx1"/>
                </a:solidFill>
              </a:rPr>
              <a:t>grafana.com/docs/grafana/latest/fundamentals/exemplars/</a:t>
            </a:r>
            <a:endParaRPr lang="en-US" sz="1100" dirty="0"/>
          </a:p>
          <a:p>
            <a:pPr indent="0" marL="0">
              <a:spcAft>
                <a:spcPts val="500"/>
              </a:spcAft>
              <a:buNone/>
            </a:pPr>
            <a:r>
              <a:rPr lang="en-US" sz="1100" dirty="0">
                <a:solidFill>
                  <a:schemeClr val="tx1"/>
                </a:solidFill>
              </a:rPr>
              <a:t>grafana.com/docs/grafana/latest/datasources/prometheus/configure/</a:t>
            </a:r>
            <a:endParaRPr lang="en-US" sz="1100" dirty="0"/>
          </a:p>
          <a:p>
            <a:pPr indent="0" marL="0">
              <a:spcAft>
                <a:spcPts val="500"/>
              </a:spcAft>
              <a:buNone/>
            </a:pPr>
            <a:r>
              <a:rPr lang="en-US" sz="1100" dirty="0">
                <a:solidFill>
                  <a:schemeClr val="tx1"/>
                </a:solidFill>
              </a:rPr>
              <a:t>grafana.com/docs/tempo/latest/</a:t>
            </a:r>
            <a:endParaRPr lang="en-US" sz="1100" dirty="0"/>
          </a:p>
          <a:p>
            <a:pPr indent="0" marL="0">
              <a:spcAft>
                <a:spcPts val="500"/>
              </a:spcAft>
              <a:buNone/>
            </a:pPr>
            <a:r>
              <a:rPr lang="en-US" sz="1100" dirty="0">
                <a:solidFill>
                  <a:schemeClr val="tx1"/>
                </a:solidFill>
              </a:rPr>
              <a:t>grafana.com/docs/grafana-cloud/send-data/traces/configure/exemplars/</a:t>
            </a:r>
            <a:endParaRPr lang="en-US" sz="1100" dirty="0"/>
          </a:p>
          <a:p>
            <a:pPr indent="0" marL="0">
              <a:spcAft>
                <a:spcPts val="500"/>
              </a:spcAft>
              <a:buNone/>
            </a:pPr>
            <a:r>
              <a:rPr lang="en-US" sz="1100" dirty="0">
                <a:solidFill>
                  <a:schemeClr val="tx1"/>
                </a:solidFill>
              </a:rPr>
              <a:t>grafana.com/docs/mimir/latest/manage/use-exemplars/about-exemplars/</a:t>
            </a:r>
            <a:endParaRPr lang="en-US" sz="1100" dirty="0"/>
          </a:p>
          <a:p>
            <a:pPr indent="0" marL="0">
              <a:spcAft>
                <a:spcPts val="500"/>
              </a:spcAft>
              <a:buNone/>
            </a:pPr>
            <a:r>
              <a:rPr lang="en-US" sz="1100" dirty="0">
                <a:solidFill>
                  <a:schemeClr val="tx1"/>
                </a:solidFill>
              </a:rPr>
              <a:t>grafana.com/blog/2022/02/23/introducing-exemplar-support-in-grafana-cloud-tightly-coupling-traces-to-your-metrics</a:t>
            </a:r>
            <a:endParaRPr lang="en-US" sz="1100" dirty="0"/>
          </a:p>
          <a:p>
            <a:pPr indent="0" marL="0">
              <a:spcAft>
                <a:spcPts val="500"/>
              </a:spcAft>
              <a:buNone/>
            </a:pPr>
            <a:r>
              <a:rPr lang="en-US" sz="1100" dirty="0">
                <a:solidFill>
                  <a:schemeClr val="tx1"/>
                </a:solidFill>
              </a:rPr>
              <a:t>github.com/grafana/grafana, ExemplarMarker.tsx</a:t>
            </a:r>
            <a:endParaRPr lang="en-US" sz="1100" dirty="0"/>
          </a:p>
          <a:p>
            <a:pPr indent="0" marL="0">
              <a:spcAft>
                <a:spcPts val="500"/>
              </a:spcAft>
              <a:buNone/>
            </a:pPr>
            <a:r>
              <a:rPr lang="en-US" sz="1100" dirty="0">
                <a:solidFill>
                  <a:schemeClr val="tx1"/>
                </a:solidFill>
              </a:rPr>
              <a:t>dash0.com/guides/opentelemetry-exemplars</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Exemplar Ink">
  <a:themeElements>
    <a:clrScheme name="Exemplar Ink">
      <a:dk1>
        <a:srgbClr val="16213E"/>
      </a:dk1>
      <a:lt1>
        <a:srgbClr val="FFFFFF"/>
      </a:lt1>
      <a:dk2>
        <a:srgbClr val="3D4A7A"/>
      </a:dk2>
      <a:lt2>
        <a:srgbClr val="EEF1FA"/>
      </a:lt2>
      <a:accent1>
        <a:srgbClr val="F5A524"/>
      </a:accent1>
      <a:accent2>
        <a:srgbClr val="4F6BED"/>
      </a:accent2>
      <a:accent3>
        <a:srgbClr val="1F9D8F"/>
      </a:accent3>
      <a:accent4>
        <a:srgbClr val="D9483F"/>
      </a:accent4>
      <a:accent5>
        <a:srgbClr val="8A94B8"/>
      </a:accent5>
      <a:accent6>
        <a:srgbClr val="6C4BD6"/>
      </a:accent6>
      <a:hlink>
        <a:srgbClr val="4F6BED"/>
      </a:hlink>
      <a:folHlink>
        <a:srgbClr val="6C4BD6"/>
      </a:folHlink>
    </a:clrScheme>
    <a:fontScheme name="Exemplar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Exemplars for dummies</dc:title>
  <dc:subject>How exemplars link metrics to traces</dc:subject>
  <dc:creator>PptxGenJS</dc:creator>
  <cp:lastModifiedBy>PptxGenJS</cp:lastModifiedBy>
  <cp:revision>1</cp:revision>
  <dcterms:created xsi:type="dcterms:W3CDTF">2026-10-08T02:35:48Z</dcterms:created>
  <dcterms:modified xsi:type="dcterms:W3CDTF">2026-10-08T02:35:48Z</dcterms:modified>
</cp:coreProperties>
</file>